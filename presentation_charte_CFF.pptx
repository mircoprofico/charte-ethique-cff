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3.xml" ContentType="application/vnd.openxmlformats-officedocument.presentationml.slide+xml"/>
  <Override PartName="/ppt/theme/theme1.xml" ContentType="application/vnd.openxmlformats-officedocument.theme+xml"/>
  <Override PartName="/ppt/slides/slide6.xml" ContentType="application/vnd.openxmlformats-officedocument.presentationml.slide+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s/slide5.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1"/>
  </p:notesMasterIdLst>
  <p:sldIdLst>
    <p:sldId id="256" r:id="rId3"/>
    <p:sldId id="257" r:id="rId4"/>
    <p:sldId id="258" r:id="rId5"/>
    <p:sldId id="259" r:id="rId6"/>
    <p:sldId id="260" r:id="rId7"/>
    <p:sldId id="261" r:id="rId8"/>
    <p:sldId id="262" r:id="rId9"/>
    <p:sldId id="263" r:id="rId10"/>
  </p:sldIdLst>
  <p:sldSz cx="12191695" cy="6858000"/>
  <p:notesSz cx="6858000" cy="12191695"/>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notesMaster" Target="notesMasters/notesMaster1.xml"/><Relationship Id="rId12" Type="http://schemas.openxmlformats.org/officeDocument/2006/relationships/presProps" Target="presProps.xml" /><Relationship Id="rId13" Type="http://schemas.openxmlformats.org/officeDocument/2006/relationships/tableStyles" Target="tableStyles.xml" /><Relationship Id="rId1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659639263"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876834516"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590647517"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54857623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93828465"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69156298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9219198" name="Slide Image Placeholder 1"/>
          <p:cNvSpPr>
            <a:spLocks noChangeAspect="1" noGrp="1" noRot="1"/>
          </p:cNvSpPr>
          <p:nvPr>
            <p:ph type="sldImg"/>
          </p:nvPr>
        </p:nvSpPr>
        <p:spPr bwMode="auto"/>
      </p:sp>
      <p:sp>
        <p:nvSpPr>
          <p:cNvPr id="1010803259" name="Notes Placeholder 2"/>
          <p:cNvSpPr>
            <a:spLocks noGrp="1"/>
          </p:cNvSpPr>
          <p:nvPr>
            <p:ph type="body" idx="1"/>
          </p:nvPr>
        </p:nvSpPr>
        <p:spPr bwMode="auto"/>
        <p:txBody>
          <a:bodyPr/>
          <a:lstStyle/>
          <a:p>
            <a:pPr>
              <a:defRPr/>
            </a:pPr>
            <a:r>
              <a:rPr lang="en-US"/>
              <a:t>Ouverture (ensemble, ou Sofian) : « Nous présentons notre charte éthique sur la numérisation des titres de transport aux CFF. Elle se divise en trois parties : l'accès et l'autonomie, l'IA et les données, puis la durabilité numérique. »</a:t>
            </a:r>
            <a:endParaRPr lang="en-US"/>
          </a:p>
        </p:txBody>
      </p:sp>
      <p:sp>
        <p:nvSpPr>
          <p:cNvPr id="184780479"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7611950" name="Slide Image Placeholder 1"/>
          <p:cNvSpPr>
            <a:spLocks noChangeAspect="1" noGrp="1" noRot="1"/>
          </p:cNvSpPr>
          <p:nvPr>
            <p:ph type="sldImg"/>
          </p:nvPr>
        </p:nvSpPr>
        <p:spPr bwMode="auto"/>
      </p:sp>
      <p:sp>
        <p:nvSpPr>
          <p:cNvPr id="25318135" name="Notes Placeholder 2"/>
          <p:cNvSpPr>
            <a:spLocks noGrp="1"/>
          </p:cNvSpPr>
          <p:nvPr>
            <p:ph type="body" idx="1"/>
          </p:nvPr>
        </p:nvSpPr>
        <p:spPr bwMode="auto"/>
        <p:txBody>
          <a:bodyPr/>
          <a:lstStyle/>
          <a:p>
            <a:pPr>
              <a:defRPr/>
            </a:pPr>
            <a:r>
              <a:rPr lang="en-US"/>
              <a:t>Sofian : présente brièvement les CFF (1,3 M de voyageurs/jour, service public), les technologies numériques des titres, et surtout les personnes vulnérables. Conclut sur la tension : faciliter pour le plus grand nombre peut exclure les plus dépendants. C'est le point de départ de la charte.</a:t>
            </a:r>
            <a:endParaRPr lang="en-US"/>
          </a:p>
        </p:txBody>
      </p:sp>
      <p:sp>
        <p:nvSpPr>
          <p:cNvPr id="490377754"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4947115" name="Slide Image Placeholder 1"/>
          <p:cNvSpPr>
            <a:spLocks noChangeAspect="1" noGrp="1" noRot="1"/>
          </p:cNvSpPr>
          <p:nvPr>
            <p:ph type="sldImg"/>
          </p:nvPr>
        </p:nvSpPr>
        <p:spPr bwMode="auto"/>
      </p:sp>
      <p:sp>
        <p:nvSpPr>
          <p:cNvPr id="536402584" name="Notes Placeholder 2"/>
          <p:cNvSpPr>
            <a:spLocks noGrp="1"/>
          </p:cNvSpPr>
          <p:nvPr>
            <p:ph type="body" idx="1"/>
          </p:nvPr>
        </p:nvSpPr>
        <p:spPr bwMode="auto"/>
        <p:txBody>
          <a:bodyPr/>
          <a:lstStyle/>
          <a:p>
            <a:pPr>
              <a:defRPr/>
            </a:pPr>
            <a:r>
              <a:rPr lang="en-US"/>
              <a:t>Sofian : nos premiers engagements. Le numérique est une option, pas une obligation : on garde toujours un guichet ou un billet papier, et renoncer au numérique ne doit jamais coûter plus cher. Les interfaces sont accessibles dès la conception, et personne n'est traité comme un citoyen de seconde classe.</a:t>
            </a:r>
            <a:endParaRPr lang="en-US"/>
          </a:p>
        </p:txBody>
      </p:sp>
      <p:sp>
        <p:nvSpPr>
          <p:cNvPr id="163328856"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8920842" name="Slide Image Placeholder 1"/>
          <p:cNvSpPr>
            <a:spLocks noChangeAspect="1" noGrp="1" noRot="1"/>
          </p:cNvSpPr>
          <p:nvPr>
            <p:ph type="sldImg"/>
          </p:nvPr>
        </p:nvSpPr>
        <p:spPr bwMode="auto"/>
      </p:sp>
      <p:sp>
        <p:nvSpPr>
          <p:cNvPr id="2027909265" name="Notes Placeholder 2"/>
          <p:cNvSpPr>
            <a:spLocks noGrp="1"/>
          </p:cNvSpPr>
          <p:nvPr>
            <p:ph type="body" idx="1"/>
          </p:nvPr>
        </p:nvSpPr>
        <p:spPr bwMode="auto"/>
        <p:txBody>
          <a:bodyPr/>
          <a:lstStyle/>
          <a:p>
            <a:pPr>
              <a:defRPr/>
            </a:pPr>
            <a:r>
              <a:rPr lang="en-US"/>
              <a:t>Arthur : sur l'IA (prix EasyRide, fraude, prévision d'affluence), nous posons quatre garde-fous : transparence, contrôle humain pour toute décision à conséquences, audit des biais, et non-substitution du jugement humain. L'algorithme aide, mais ne tranche jamais seul une amende ou un blocage.</a:t>
            </a:r>
            <a:endParaRPr lang="en-US"/>
          </a:p>
        </p:txBody>
      </p:sp>
      <p:sp>
        <p:nvSpPr>
          <p:cNvPr id="1113110005"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92632833" name="Slide Image Placeholder 1"/>
          <p:cNvSpPr>
            <a:spLocks noChangeAspect="1" noGrp="1" noRot="1"/>
          </p:cNvSpPr>
          <p:nvPr>
            <p:ph type="sldImg"/>
          </p:nvPr>
        </p:nvSpPr>
        <p:spPr bwMode="auto"/>
      </p:sp>
      <p:sp>
        <p:nvSpPr>
          <p:cNvPr id="2028363911" name="Notes Placeholder 2"/>
          <p:cNvSpPr>
            <a:spLocks noGrp="1"/>
          </p:cNvSpPr>
          <p:nvPr>
            <p:ph type="body" idx="1"/>
          </p:nvPr>
        </p:nvSpPr>
        <p:spPr bwMode="auto"/>
        <p:txBody>
          <a:bodyPr/>
          <a:lstStyle/>
          <a:p>
            <a:pPr>
              <a:defRPr/>
            </a:pPr>
            <a:r>
              <a:rPr lang="en-US"/>
              <a:t>Arthur : dans un service public, la confiance est essentielle. Nous minimisons les données, les hébergeons en Suisse, refusons toute revente publicitaire et tout historique permanent des trajets. Et nous refusons la biométrie obligatoire : on doit pouvoir se déplacer sans être identifié ni tracé.</a:t>
            </a:r>
            <a:endParaRPr lang="en-US"/>
          </a:p>
        </p:txBody>
      </p:sp>
      <p:sp>
        <p:nvSpPr>
          <p:cNvPr id="1826659593"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5989065" name="Slide Image Placeholder 1"/>
          <p:cNvSpPr>
            <a:spLocks noChangeAspect="1" noGrp="1" noRot="1"/>
          </p:cNvSpPr>
          <p:nvPr>
            <p:ph type="sldImg"/>
          </p:nvPr>
        </p:nvSpPr>
        <p:spPr bwMode="auto"/>
      </p:sp>
      <p:sp>
        <p:nvSpPr>
          <p:cNvPr id="1830685120" name="Notes Placeholder 2"/>
          <p:cNvSpPr>
            <a:spLocks noGrp="1"/>
          </p:cNvSpPr>
          <p:nvPr>
            <p:ph type="body" idx="1"/>
          </p:nvPr>
        </p:nvSpPr>
        <p:spPr bwMode="auto"/>
        <p:txBody>
          <a:bodyPr/>
          <a:lstStyle/>
          <a:p>
            <a:pPr>
              <a:defRPr/>
            </a:pPr>
            <a:r>
              <a:rPr lang="en-US"/>
              <a:t>Mirco : la bonne hybridation met la technologie au service de l'humain. Elle augmente les capacités du voyageur et libère le personnel des tâches répétitives pour le recentrer sur la relation. Garder une présence humaine en gare est un choix assumé, pas une dépense à éliminer.</a:t>
            </a:r>
            <a:endParaRPr lang="en-US"/>
          </a:p>
        </p:txBody>
      </p:sp>
      <p:sp>
        <p:nvSpPr>
          <p:cNvPr id="1448340632"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3677606" name="Slide Image Placeholder 1"/>
          <p:cNvSpPr>
            <a:spLocks noChangeAspect="1" noGrp="1" noRot="1"/>
          </p:cNvSpPr>
          <p:nvPr>
            <p:ph type="sldImg"/>
          </p:nvPr>
        </p:nvSpPr>
        <p:spPr bwMode="auto"/>
      </p:sp>
      <p:sp>
        <p:nvSpPr>
          <p:cNvPr id="429621463" name="Notes Placeholder 2"/>
          <p:cNvSpPr>
            <a:spLocks noGrp="1"/>
          </p:cNvSpPr>
          <p:nvPr>
            <p:ph type="body" idx="1"/>
          </p:nvPr>
        </p:nvSpPr>
        <p:spPr bwMode="auto"/>
        <p:txBody>
          <a:bodyPr/>
          <a:lstStyle/>
          <a:p>
            <a:pPr>
              <a:defRPr/>
            </a:pPr>
            <a:r>
              <a:rPr lang="en-US"/>
              <a:t>Mirco : la durabilité ne se résume pas à supprimer le papier. Nous visons la sobriété : ne numériser que l'utile, des applications légères qui fonctionnent sur du matériel ancien, des supports durables comme le SwissPass, et une énergie renouvelable. Surtout, nous mesurons et publions l'empreinte réelle, car le numérique n'est pas immatériel.</a:t>
            </a:r>
            <a:endParaRPr lang="en-US"/>
          </a:p>
        </p:txBody>
      </p:sp>
      <p:sp>
        <p:nvSpPr>
          <p:cNvPr id="1407774228"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7179124" name="Slide Image Placeholder 1"/>
          <p:cNvSpPr>
            <a:spLocks noChangeAspect="1" noGrp="1" noRot="1"/>
          </p:cNvSpPr>
          <p:nvPr>
            <p:ph type="sldImg"/>
          </p:nvPr>
        </p:nvSpPr>
        <p:spPr bwMode="auto"/>
      </p:sp>
      <p:sp>
        <p:nvSpPr>
          <p:cNvPr id="825964931" name="Notes Placeholder 2"/>
          <p:cNvSpPr>
            <a:spLocks noGrp="1"/>
          </p:cNvSpPr>
          <p:nvPr>
            <p:ph type="body" idx="1"/>
          </p:nvPr>
        </p:nvSpPr>
        <p:spPr bwMode="auto"/>
        <p:txBody>
          <a:bodyPr/>
          <a:lstStyle/>
          <a:p>
            <a:pPr>
              <a:defRPr/>
            </a:pPr>
            <a:r>
              <a:rPr lang="en-US"/>
              <a:t>Conclusion (ensemble, ou Mirco) : nos choix techniques sont des choix éthiques. Notre objectif : une mobilité numérique qui n'oublie personne, sobre et respectueuse de la vie privée. Remerciements.</a:t>
            </a:r>
            <a:endParaRPr lang="en-US"/>
          </a:p>
        </p:txBody>
      </p:sp>
      <p:sp>
        <p:nvSpPr>
          <p:cNvPr id="122842465"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EB0000"/>
        </a:solidFill>
      </p:bgPr>
    </p:bg>
    <p:spTree>
      <p:nvGrpSpPr>
        <p:cNvPr id="1" name=""/>
        <p:cNvGrpSpPr/>
        <p:nvPr/>
      </p:nvGrpSpPr>
      <p:grpSpPr bwMode="auto">
        <a:xfrm>
          <a:off x="0" y="0"/>
          <a:ext cx="0" cy="0"/>
          <a:chOff x="0" y="0"/>
          <a:chExt cx="0" cy="0"/>
        </a:xfrm>
      </p:grpSpPr>
      <p:sp>
        <p:nvSpPr>
          <p:cNvPr id="1339049967" name=""/>
          <p:cNvSpPr/>
          <p:nvPr/>
        </p:nvSpPr>
        <p:spPr bwMode="auto">
          <a:xfrm rot="0" flipH="0" flipV="0">
            <a:off x="-120695" y="-55376"/>
            <a:ext cx="12626162" cy="7066220"/>
          </a:xfrm>
          <a:prstGeom prst="rect">
            <a:avLst/>
          </a:prstGeom>
          <a:solidFill>
            <a:srgbClr val="752424"/>
          </a:solidFill>
          <a:ln w="12700" cap="flat" cmpd="sng" algn="ctr">
            <a:solidFill>
              <a:schemeClr val="accent1">
                <a:shade val="50000"/>
                <a:alpha val="99999"/>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0171384" name="Text 0"/>
          <p:cNvSpPr/>
          <p:nvPr/>
        </p:nvSpPr>
        <p:spPr bwMode="auto">
          <a:xfrm>
            <a:off x="822960" y="1874520"/>
            <a:ext cx="11430000" cy="457200"/>
          </a:xfrm>
          <a:prstGeom prst="rect">
            <a:avLst/>
          </a:prstGeom>
          <a:noFill/>
          <a:ln/>
        </p:spPr>
        <p:txBody>
          <a:bodyPr wrap="square" rtlCol="0" anchor="ctr"/>
          <a:lstStyle/>
          <a:p>
            <a:pPr marL="0" indent="0">
              <a:buNone/>
              <a:defRPr/>
            </a:pPr>
            <a:r>
              <a:rPr lang="en-US" sz="1400" b="1">
                <a:solidFill>
                  <a:srgbClr val="FFFFFF">
                    <a:alpha val="92000"/>
                  </a:srgbClr>
                </a:solidFill>
                <a:latin typeface="Calibri"/>
                <a:ea typeface="Calibri"/>
                <a:cs typeface="Calibri"/>
              </a:rPr>
              <a:t>CHARTE ÉTHIQUE  &amp;  DURABILITÉ NUMÉRIQUE</a:t>
            </a:r>
            <a:endParaRPr lang="en-US" sz="1400"/>
          </a:p>
        </p:txBody>
      </p:sp>
      <p:sp>
        <p:nvSpPr>
          <p:cNvPr id="515643139" name="Text 1"/>
          <p:cNvSpPr/>
          <p:nvPr/>
        </p:nvSpPr>
        <p:spPr bwMode="auto">
          <a:xfrm>
            <a:off x="804672" y="2286000"/>
            <a:ext cx="10515600" cy="1554480"/>
          </a:xfrm>
          <a:prstGeom prst="rect">
            <a:avLst/>
          </a:prstGeom>
          <a:noFill/>
          <a:ln/>
        </p:spPr>
        <p:txBody>
          <a:bodyPr wrap="square" rtlCol="0" anchor="ctr"/>
          <a:lstStyle/>
          <a:p>
            <a:pPr marL="0" indent="0">
              <a:lnSpc>
                <a:spcPct val="100000"/>
              </a:lnSpc>
              <a:buNone/>
              <a:defRPr/>
            </a:pPr>
            <a:r>
              <a:rPr lang="en-US" sz="4600" b="1">
                <a:solidFill>
                  <a:srgbClr val="FFFFFF"/>
                </a:solidFill>
                <a:latin typeface="Calibri"/>
                <a:ea typeface="Calibri"/>
                <a:cs typeface="Calibri"/>
              </a:rPr>
              <a:t>La numérisation des titres</a:t>
            </a:r>
            <a:endParaRPr lang="en-US" sz="4600"/>
          </a:p>
          <a:p>
            <a:pPr marL="0" indent="0">
              <a:lnSpc>
                <a:spcPct val="100000"/>
              </a:lnSpc>
              <a:buNone/>
              <a:defRPr/>
            </a:pPr>
            <a:r>
              <a:rPr lang="en-US" sz="4600" b="1">
                <a:solidFill>
                  <a:srgbClr val="FFFFFF"/>
                </a:solidFill>
                <a:latin typeface="Calibri"/>
                <a:ea typeface="Calibri"/>
                <a:cs typeface="Calibri"/>
              </a:rPr>
              <a:t>de transport aux CFF</a:t>
            </a:r>
            <a:endParaRPr lang="en-US" sz="4600"/>
          </a:p>
        </p:txBody>
      </p:sp>
      <p:sp>
        <p:nvSpPr>
          <p:cNvPr id="1770477503" name="Text 2"/>
          <p:cNvSpPr/>
          <p:nvPr/>
        </p:nvSpPr>
        <p:spPr bwMode="auto">
          <a:xfrm>
            <a:off x="822960" y="3886200"/>
            <a:ext cx="10058400" cy="548640"/>
          </a:xfrm>
          <a:prstGeom prst="rect">
            <a:avLst/>
          </a:prstGeom>
          <a:noFill/>
          <a:ln/>
        </p:spPr>
        <p:txBody>
          <a:bodyPr wrap="square" rtlCol="0" anchor="ctr"/>
          <a:lstStyle/>
          <a:p>
            <a:pPr marL="0" indent="0">
              <a:buNone/>
              <a:defRPr/>
            </a:pPr>
            <a:r>
              <a:rPr lang="en-US" sz="2000" i="1">
                <a:solidFill>
                  <a:srgbClr val="FFFFFF">
                    <a:alpha val="94000"/>
                  </a:srgbClr>
                </a:solidFill>
                <a:latin typeface="Calibri"/>
                <a:ea typeface="Calibri"/>
                <a:cs typeface="Calibri"/>
              </a:rPr>
              <a:t>Présentation de notre charte</a:t>
            </a:r>
            <a:endParaRPr lang="en-US" sz="2000"/>
          </a:p>
        </p:txBody>
      </p:sp>
      <p:sp>
        <p:nvSpPr>
          <p:cNvPr id="1873054842" name="Text 3"/>
          <p:cNvSpPr/>
          <p:nvPr/>
        </p:nvSpPr>
        <p:spPr bwMode="auto">
          <a:xfrm>
            <a:off x="822960" y="5440680"/>
            <a:ext cx="10058400" cy="914400"/>
          </a:xfrm>
          <a:prstGeom prst="rect">
            <a:avLst/>
          </a:prstGeom>
          <a:noFill/>
          <a:ln/>
        </p:spPr>
        <p:txBody>
          <a:bodyPr wrap="square" rtlCol="0" anchor="ctr"/>
          <a:lstStyle/>
          <a:p>
            <a:pPr marL="0" indent="0">
              <a:lnSpc>
                <a:spcPct val="130000"/>
              </a:lnSpc>
              <a:buNone/>
              <a:defRPr/>
            </a:pPr>
            <a:r>
              <a:rPr lang="en-US" sz="1500">
                <a:solidFill>
                  <a:srgbClr val="FFFFFF">
                    <a:alpha val="88000"/>
                  </a:srgbClr>
                </a:solidFill>
                <a:latin typeface="Calibri"/>
                <a:ea typeface="Calibri"/>
                <a:cs typeface="Calibri"/>
              </a:rPr>
              <a:t>Cours Éthique et durabilité · HEIG-VD</a:t>
            </a:r>
            <a:endParaRPr lang="en-US" sz="1500"/>
          </a:p>
          <a:p>
            <a:pPr marL="0" indent="0">
              <a:lnSpc>
                <a:spcPct val="130000"/>
              </a:lnSpc>
              <a:buNone/>
              <a:defRPr/>
            </a:pPr>
            <a:r>
              <a:rPr lang="en-US" sz="1500" b="1">
                <a:solidFill>
                  <a:srgbClr val="FFFFFF"/>
                </a:solidFill>
                <a:latin typeface="Calibri"/>
                <a:ea typeface="Calibri"/>
                <a:cs typeface="Calibri"/>
              </a:rPr>
              <a:t>Sofian Ethenoz   ·   Arthur Menétrey   ·   Mirco Profico</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sp>
        <p:nvSpPr>
          <p:cNvPr id="1260407968" name="Shape 0"/>
          <p:cNvSpPr/>
          <p:nvPr/>
        </p:nvSpPr>
        <p:spPr bwMode="auto">
          <a:xfrm>
            <a:off x="640080" y="457200"/>
            <a:ext cx="749808" cy="749808"/>
          </a:xfrm>
          <a:prstGeom prst="ellipse">
            <a:avLst/>
          </a:prstGeom>
          <a:solidFill>
            <a:srgbClr val="EB0000"/>
          </a:solidFill>
          <a:ln/>
        </p:spPr>
      </p:sp>
      <p:pic>
        <p:nvPicPr>
          <p:cNvPr id="494731429" name="Image 0" descr="preencoded.png"/>
          <p:cNvPicPr>
            <a:picLocks noChangeAspect="1"/>
          </p:cNvPicPr>
          <p:nvPr/>
        </p:nvPicPr>
        <p:blipFill rotWithShape="1">
          <a:blip r:embed="rId3"/>
          <a:stretch/>
        </p:blipFill>
        <p:spPr bwMode="auto">
          <a:xfrm>
            <a:off x="841248" y="658368"/>
            <a:ext cx="347472" cy="347472"/>
          </a:xfrm>
          <a:prstGeom prst="rect">
            <a:avLst/>
          </a:prstGeom>
        </p:spPr>
      </p:pic>
      <p:sp>
        <p:nvSpPr>
          <p:cNvPr id="408643654" name="Text 1"/>
          <p:cNvSpPr/>
          <p:nvPr/>
        </p:nvSpPr>
        <p:spPr bwMode="auto">
          <a:xfrm>
            <a:off x="1600200" y="411480"/>
            <a:ext cx="7863840" cy="868680"/>
          </a:xfrm>
          <a:prstGeom prst="rect">
            <a:avLst/>
          </a:prstGeom>
          <a:noFill/>
          <a:ln/>
        </p:spPr>
        <p:txBody>
          <a:bodyPr wrap="square" lIns="0" tIns="0" rIns="0" bIns="0" rtlCol="0" anchor="ctr"/>
          <a:lstStyle/>
          <a:p>
            <a:pPr marL="0" indent="0">
              <a:buNone/>
              <a:defRPr/>
            </a:pPr>
            <a:r>
              <a:rPr lang="en-US" sz="2800" b="1">
                <a:solidFill>
                  <a:srgbClr val="1F2328"/>
                </a:solidFill>
                <a:latin typeface="Calibri"/>
                <a:ea typeface="Calibri"/>
                <a:cs typeface="Calibri"/>
              </a:rPr>
              <a:t>Les CFF, leurs technologies et leurs bénéficiaires</a:t>
            </a:r>
            <a:endParaRPr lang="en-US" sz="2800"/>
          </a:p>
        </p:txBody>
      </p:sp>
      <p:sp>
        <p:nvSpPr>
          <p:cNvPr id="1262455927" name="Shape 2"/>
          <p:cNvSpPr/>
          <p:nvPr/>
        </p:nvSpPr>
        <p:spPr bwMode="auto">
          <a:xfrm>
            <a:off x="8991295" y="566928"/>
            <a:ext cx="2560320" cy="457200"/>
          </a:xfrm>
          <a:prstGeom prst="roundRect">
            <a:avLst>
              <a:gd name="adj" fmla="val 50000"/>
            </a:avLst>
          </a:prstGeom>
          <a:solidFill>
            <a:srgbClr val="A60510"/>
          </a:solidFill>
          <a:ln/>
        </p:spPr>
      </p:sp>
      <p:sp>
        <p:nvSpPr>
          <p:cNvPr id="463394112" name="Text 3"/>
          <p:cNvSpPr/>
          <p:nvPr/>
        </p:nvSpPr>
        <p:spPr bwMode="auto">
          <a:xfrm>
            <a:off x="8991295" y="566928"/>
            <a:ext cx="2560320" cy="457200"/>
          </a:xfrm>
          <a:prstGeom prst="rect">
            <a:avLst/>
          </a:prstGeom>
          <a:noFill/>
          <a:ln/>
        </p:spPr>
        <p:txBody>
          <a:bodyPr wrap="square" lIns="0" tIns="0" rIns="0" bIns="0" rtlCol="0" anchor="ctr"/>
          <a:lstStyle/>
          <a:p>
            <a:pPr marL="0" indent="0" algn="ctr">
              <a:buNone/>
              <a:defRPr/>
            </a:pPr>
            <a:r>
              <a:rPr lang="en-US" sz="1150" b="1" spc="100">
                <a:solidFill>
                  <a:srgbClr val="FFFFFF"/>
                </a:solidFill>
                <a:latin typeface="Calibri"/>
                <a:ea typeface="Calibri"/>
                <a:cs typeface="Calibri"/>
              </a:rPr>
              <a:t>INTRO · SOFIAN</a:t>
            </a:r>
            <a:endParaRPr lang="en-US" sz="1150"/>
          </a:p>
        </p:txBody>
      </p:sp>
      <p:sp>
        <p:nvSpPr>
          <p:cNvPr id="1102707654" name="Shape 4"/>
          <p:cNvSpPr/>
          <p:nvPr/>
        </p:nvSpPr>
        <p:spPr bwMode="auto">
          <a:xfrm>
            <a:off x="640080" y="1691640"/>
            <a:ext cx="5349240" cy="2926080"/>
          </a:xfrm>
          <a:prstGeom prst="roundRect">
            <a:avLst>
              <a:gd name="adj" fmla="val 3125"/>
            </a:avLst>
          </a:prstGeom>
          <a:solidFill>
            <a:srgbClr val="F5F6F7"/>
          </a:solidFill>
          <a:ln/>
          <a:effectLst>
            <a:outerShdw blurRad="88900" dist="38100" dir="8100000" sx="100000" sy="100000" kx="0" ky="0" algn="bl" rotWithShape="0">
              <a:srgbClr val="000000">
                <a:alpha val="10000"/>
              </a:srgbClr>
            </a:outerShdw>
          </a:effectLst>
        </p:spPr>
      </p:sp>
      <p:sp>
        <p:nvSpPr>
          <p:cNvPr id="1880089099" name="Text 5"/>
          <p:cNvSpPr/>
          <p:nvPr/>
        </p:nvSpPr>
        <p:spPr bwMode="auto">
          <a:xfrm>
            <a:off x="914400" y="1874520"/>
            <a:ext cx="4846320" cy="457200"/>
          </a:xfrm>
          <a:prstGeom prst="rect">
            <a:avLst/>
          </a:prstGeom>
          <a:noFill/>
          <a:ln/>
        </p:spPr>
        <p:txBody>
          <a:bodyPr wrap="square" lIns="0" tIns="0" rIns="0" bIns="0" rtlCol="0" anchor="ctr"/>
          <a:lstStyle/>
          <a:p>
            <a:pPr marL="0" indent="0">
              <a:buNone/>
              <a:defRPr/>
            </a:pPr>
            <a:r>
              <a:rPr lang="en-US" sz="1700" b="1">
                <a:solidFill>
                  <a:srgbClr val="EB0000"/>
                </a:solidFill>
                <a:latin typeface="Calibri"/>
                <a:ea typeface="Calibri"/>
                <a:cs typeface="Calibri"/>
              </a:rPr>
              <a:t>Des titres de transport numérisés</a:t>
            </a:r>
            <a:endParaRPr lang="en-US" sz="1700"/>
          </a:p>
        </p:txBody>
      </p:sp>
      <p:sp>
        <p:nvSpPr>
          <p:cNvPr id="2139660716" name="Text 6"/>
          <p:cNvSpPr/>
          <p:nvPr/>
        </p:nvSpPr>
        <p:spPr bwMode="auto">
          <a:xfrm>
            <a:off x="914400" y="2377440"/>
            <a:ext cx="4846320" cy="2103120"/>
          </a:xfrm>
          <a:prstGeom prst="rect">
            <a:avLst/>
          </a:prstGeom>
          <a:noFill/>
          <a:ln/>
        </p:spPr>
        <p:txBody>
          <a:bodyPr wrap="square" lIns="0" tIns="0" rIns="0" bIns="0" rtlCol="0" anchor="ctr"/>
          <a:lstStyle/>
          <a:p>
            <a:pPr marL="342900" indent="-342900">
              <a:spcAft>
                <a:spcPts val="700"/>
              </a:spcAft>
              <a:buSzPct val="100000"/>
              <a:buChar char="•"/>
              <a:defRPr/>
            </a:pPr>
            <a:r>
              <a:rPr lang="en-US" sz="1550" b="1">
                <a:solidFill>
                  <a:srgbClr val="1F2328"/>
                </a:solidFill>
                <a:latin typeface="Calibri"/>
                <a:ea typeface="Calibri"/>
                <a:cs typeface="Calibri"/>
              </a:rPr>
              <a:t>Application Mobile CFF</a:t>
            </a:r>
            <a:endParaRPr lang="en-US" sz="1550"/>
          </a:p>
          <a:p>
            <a:pPr marL="342900" indent="-342900">
              <a:spcAft>
                <a:spcPts val="700"/>
              </a:spcAft>
              <a:buSzPct val="100000"/>
              <a:buChar char="•"/>
              <a:defRPr/>
            </a:pPr>
            <a:r>
              <a:rPr lang="en-US" sz="1550">
                <a:solidFill>
                  <a:srgbClr val="1F2328"/>
                </a:solidFill>
                <a:latin typeface="Calibri"/>
                <a:ea typeface="Calibri"/>
                <a:cs typeface="Calibri"/>
              </a:rPr>
              <a:t>SwissPass - carte à puce (AG, demi-tarif…)</a:t>
            </a:r>
            <a:endParaRPr lang="en-US" sz="1550"/>
          </a:p>
          <a:p>
            <a:pPr marL="342900" indent="-342900">
              <a:spcAft>
                <a:spcPts val="700"/>
              </a:spcAft>
              <a:buSzPct val="100000"/>
              <a:buChar char="•"/>
              <a:defRPr/>
            </a:pPr>
            <a:r>
              <a:rPr lang="en-US" sz="1550">
                <a:solidFill>
                  <a:srgbClr val="1F2328"/>
                </a:solidFill>
                <a:latin typeface="Calibri"/>
                <a:ea typeface="Calibri"/>
                <a:cs typeface="Calibri"/>
              </a:rPr>
              <a:t>EasyRide - « check-in / check-out »</a:t>
            </a:r>
            <a:endParaRPr lang="en-US" sz="1550"/>
          </a:p>
          <a:p>
            <a:pPr marL="342900" indent="-342900">
              <a:spcAft>
                <a:spcPts val="700"/>
              </a:spcAft>
              <a:buSzPct val="100000"/>
              <a:buChar char="•"/>
              <a:defRPr/>
            </a:pPr>
            <a:r>
              <a:rPr lang="en-US" sz="1550">
                <a:solidFill>
                  <a:srgbClr val="1F2328"/>
                </a:solidFill>
                <a:latin typeface="Calibri"/>
                <a:ea typeface="Calibri"/>
                <a:cs typeface="Calibri"/>
              </a:rPr>
              <a:t>Automates et vente en ligne</a:t>
            </a:r>
            <a:endParaRPr lang="en-US" sz="1550"/>
          </a:p>
        </p:txBody>
      </p:sp>
      <p:sp>
        <p:nvSpPr>
          <p:cNvPr id="1435502805" name="Shape 7"/>
          <p:cNvSpPr/>
          <p:nvPr/>
        </p:nvSpPr>
        <p:spPr bwMode="auto">
          <a:xfrm>
            <a:off x="6199632" y="1691640"/>
            <a:ext cx="5349240" cy="2926080"/>
          </a:xfrm>
          <a:prstGeom prst="roundRect">
            <a:avLst>
              <a:gd name="adj" fmla="val 3125"/>
            </a:avLst>
          </a:prstGeom>
          <a:solidFill>
            <a:srgbClr val="F5F6F7"/>
          </a:solidFill>
          <a:ln/>
          <a:effectLst>
            <a:outerShdw blurRad="88900" dist="38100" dir="8100000" sx="100000" sy="100000" kx="0" ky="0" algn="bl" rotWithShape="0">
              <a:srgbClr val="000000">
                <a:alpha val="10000"/>
              </a:srgbClr>
            </a:outerShdw>
          </a:effectLst>
        </p:spPr>
      </p:sp>
      <p:sp>
        <p:nvSpPr>
          <p:cNvPr id="873485602" name="Text 8"/>
          <p:cNvSpPr/>
          <p:nvPr/>
        </p:nvSpPr>
        <p:spPr bwMode="auto">
          <a:xfrm>
            <a:off x="6473952" y="1874520"/>
            <a:ext cx="4846320" cy="457200"/>
          </a:xfrm>
          <a:prstGeom prst="rect">
            <a:avLst/>
          </a:prstGeom>
          <a:noFill/>
          <a:ln/>
        </p:spPr>
        <p:txBody>
          <a:bodyPr wrap="square" lIns="0" tIns="0" rIns="0" bIns="0" rtlCol="0" anchor="ctr"/>
          <a:lstStyle/>
          <a:p>
            <a:pPr marL="0" indent="0">
              <a:buNone/>
              <a:defRPr/>
            </a:pPr>
            <a:r>
              <a:rPr lang="en-US" sz="1700" b="1">
                <a:solidFill>
                  <a:srgbClr val="EB0000"/>
                </a:solidFill>
                <a:latin typeface="Calibri"/>
                <a:ea typeface="Calibri"/>
                <a:cs typeface="Calibri"/>
              </a:rPr>
              <a:t>Un service public : servir tout le monde</a:t>
            </a:r>
            <a:endParaRPr lang="en-US" sz="1700"/>
          </a:p>
        </p:txBody>
      </p:sp>
      <p:sp>
        <p:nvSpPr>
          <p:cNvPr id="1075499760" name="Text 9"/>
          <p:cNvSpPr/>
          <p:nvPr/>
        </p:nvSpPr>
        <p:spPr bwMode="auto">
          <a:xfrm>
            <a:off x="6473952" y="2377440"/>
            <a:ext cx="4846320" cy="2103120"/>
          </a:xfrm>
          <a:prstGeom prst="rect">
            <a:avLst/>
          </a:prstGeom>
          <a:noFill/>
          <a:ln/>
        </p:spPr>
        <p:txBody>
          <a:bodyPr wrap="square" lIns="0" tIns="0" rIns="0" bIns="0" rtlCol="0" anchor="ctr"/>
          <a:lstStyle/>
          <a:p>
            <a:pPr marL="342900" indent="-342900">
              <a:spcAft>
                <a:spcPts val="500"/>
              </a:spcAft>
              <a:buSzPct val="100000"/>
              <a:buChar char="•"/>
              <a:defRPr/>
            </a:pPr>
            <a:r>
              <a:rPr lang="en-US" sz="1550">
                <a:solidFill>
                  <a:srgbClr val="1F2328"/>
                </a:solidFill>
                <a:latin typeface="Calibri"/>
                <a:ea typeface="Calibri"/>
                <a:cs typeface="Calibri"/>
              </a:rPr>
              <a:t>Personnes âgées</a:t>
            </a:r>
            <a:endParaRPr lang="en-US" sz="1550"/>
          </a:p>
          <a:p>
            <a:pPr marL="342900" indent="-342900">
              <a:spcAft>
                <a:spcPts val="500"/>
              </a:spcAft>
              <a:buSzPct val="100000"/>
              <a:buChar char="•"/>
              <a:defRPr/>
            </a:pPr>
            <a:r>
              <a:rPr lang="en-US" sz="1550">
                <a:solidFill>
                  <a:srgbClr val="1F2328"/>
                </a:solidFill>
                <a:latin typeface="Calibri"/>
                <a:ea typeface="Calibri"/>
                <a:cs typeface="Calibri"/>
              </a:rPr>
              <a:t>Personnes en situation de handicap</a:t>
            </a:r>
            <a:endParaRPr lang="en-US" sz="1550"/>
          </a:p>
          <a:p>
            <a:pPr marL="342900" indent="-342900">
              <a:spcAft>
                <a:spcPts val="500"/>
              </a:spcAft>
              <a:buSzPct val="100000"/>
              <a:buChar char="•"/>
              <a:defRPr/>
            </a:pPr>
            <a:r>
              <a:rPr lang="en-US" sz="1550">
                <a:solidFill>
                  <a:srgbClr val="1F2328"/>
                </a:solidFill>
                <a:latin typeface="Calibri"/>
                <a:ea typeface="Calibri"/>
                <a:cs typeface="Calibri"/>
              </a:rPr>
              <a:t>Faibles revenus / sans smartphone</a:t>
            </a:r>
            <a:endParaRPr lang="en-US" sz="1550"/>
          </a:p>
          <a:p>
            <a:pPr marL="342900" indent="-342900">
              <a:spcAft>
                <a:spcPts val="500"/>
              </a:spcAft>
              <a:buSzPct val="100000"/>
              <a:buChar char="•"/>
              <a:defRPr/>
            </a:pPr>
            <a:r>
              <a:rPr lang="en-US" sz="1550">
                <a:solidFill>
                  <a:srgbClr val="1F2328"/>
                </a:solidFill>
                <a:latin typeface="Calibri"/>
                <a:ea typeface="Calibri"/>
                <a:cs typeface="Calibri"/>
              </a:rPr>
              <a:t>Jeunes et mineurs</a:t>
            </a:r>
            <a:endParaRPr lang="en-US" sz="1550"/>
          </a:p>
          <a:p>
            <a:pPr marL="342900" indent="-342900">
              <a:spcAft>
                <a:spcPts val="500"/>
              </a:spcAft>
              <a:buSzPct val="100000"/>
              <a:buChar char="•"/>
              <a:defRPr/>
            </a:pPr>
            <a:r>
              <a:rPr lang="en-US" sz="1550">
                <a:solidFill>
                  <a:srgbClr val="1F2328"/>
                </a:solidFill>
                <a:latin typeface="Calibri"/>
                <a:ea typeface="Calibri"/>
                <a:cs typeface="Calibri"/>
              </a:rPr>
              <a:t>Touristes, non-francophones</a:t>
            </a:r>
            <a:endParaRPr lang="en-US" sz="1550"/>
          </a:p>
        </p:txBody>
      </p:sp>
      <p:sp>
        <p:nvSpPr>
          <p:cNvPr id="1033180329" name="Shape 10"/>
          <p:cNvSpPr/>
          <p:nvPr/>
        </p:nvSpPr>
        <p:spPr bwMode="auto">
          <a:xfrm>
            <a:off x="640080" y="4983480"/>
            <a:ext cx="10908792" cy="1143000"/>
          </a:xfrm>
          <a:prstGeom prst="roundRect">
            <a:avLst>
              <a:gd name="adj" fmla="val 8000"/>
            </a:avLst>
          </a:prstGeom>
          <a:solidFill>
            <a:srgbClr val="FCE9E9"/>
          </a:solidFill>
          <a:ln/>
        </p:spPr>
      </p:sp>
      <p:sp>
        <p:nvSpPr>
          <p:cNvPr id="118252737" name="Text 11"/>
          <p:cNvSpPr/>
          <p:nvPr/>
        </p:nvSpPr>
        <p:spPr bwMode="auto">
          <a:xfrm>
            <a:off x="960120" y="4983480"/>
            <a:ext cx="10241280" cy="1143000"/>
          </a:xfrm>
          <a:prstGeom prst="rect">
            <a:avLst/>
          </a:prstGeom>
          <a:noFill/>
          <a:ln/>
        </p:spPr>
        <p:txBody>
          <a:bodyPr wrap="square" lIns="0" tIns="0" rIns="0" bIns="0" rtlCol="0" anchor="ctr"/>
          <a:lstStyle/>
          <a:p>
            <a:pPr marL="0" indent="0">
              <a:buNone/>
              <a:defRPr/>
            </a:pPr>
            <a:r>
              <a:rPr lang="en-US" sz="1650" b="1">
                <a:solidFill>
                  <a:srgbClr val="A60510"/>
                </a:solidFill>
                <a:latin typeface="Calibri"/>
                <a:ea typeface="Calibri"/>
                <a:cs typeface="Calibri"/>
              </a:rPr>
              <a:t>La tension éthique : </a:t>
            </a:r>
            <a:r>
              <a:rPr lang="en-US" sz="1650">
                <a:solidFill>
                  <a:srgbClr val="1F2328"/>
                </a:solidFill>
                <a:latin typeface="Calibri"/>
                <a:ea typeface="Calibri"/>
                <a:cs typeface="Calibri"/>
              </a:rPr>
              <a:t>un outil pensé pour tous peut exclure précisément ceux qui dépendent le plus du service public. C'est là-dessus que porte notre charte.</a:t>
            </a:r>
            <a:endParaRPr lang="en-US" sz="16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sp>
        <p:nvSpPr>
          <p:cNvPr id="1497269236" name="Shape 0"/>
          <p:cNvSpPr/>
          <p:nvPr/>
        </p:nvSpPr>
        <p:spPr bwMode="auto">
          <a:xfrm>
            <a:off x="640080" y="457200"/>
            <a:ext cx="749808" cy="749808"/>
          </a:xfrm>
          <a:prstGeom prst="ellipse">
            <a:avLst/>
          </a:prstGeom>
          <a:solidFill>
            <a:srgbClr val="EB0000"/>
          </a:solidFill>
          <a:ln/>
        </p:spPr>
      </p:sp>
      <p:pic>
        <p:nvPicPr>
          <p:cNvPr id="1583995779" name="Image 0" descr="preencoded.png"/>
          <p:cNvPicPr>
            <a:picLocks noChangeAspect="1"/>
          </p:cNvPicPr>
          <p:nvPr/>
        </p:nvPicPr>
        <p:blipFill rotWithShape="1">
          <a:blip r:embed="rId3"/>
          <a:stretch/>
        </p:blipFill>
        <p:spPr bwMode="auto">
          <a:xfrm>
            <a:off x="841248" y="658368"/>
            <a:ext cx="347472" cy="347472"/>
          </a:xfrm>
          <a:prstGeom prst="rect">
            <a:avLst/>
          </a:prstGeom>
        </p:spPr>
      </p:pic>
      <p:sp>
        <p:nvSpPr>
          <p:cNvPr id="1699480977" name="Text 1"/>
          <p:cNvSpPr/>
          <p:nvPr/>
        </p:nvSpPr>
        <p:spPr bwMode="auto">
          <a:xfrm>
            <a:off x="1600200" y="411480"/>
            <a:ext cx="7863840" cy="868680"/>
          </a:xfrm>
          <a:prstGeom prst="rect">
            <a:avLst/>
          </a:prstGeom>
          <a:noFill/>
          <a:ln/>
        </p:spPr>
        <p:txBody>
          <a:bodyPr wrap="square" lIns="0" tIns="0" rIns="0" bIns="0" rtlCol="0" anchor="ctr"/>
          <a:lstStyle/>
          <a:p>
            <a:pPr marL="0" indent="0">
              <a:buNone/>
              <a:defRPr/>
            </a:pPr>
            <a:r>
              <a:rPr lang="en-US" sz="2800" b="1">
                <a:solidFill>
                  <a:srgbClr val="1F2328"/>
                </a:solidFill>
                <a:latin typeface="Calibri"/>
                <a:ea typeface="Calibri"/>
                <a:cs typeface="Calibri"/>
              </a:rPr>
              <a:t>Accès &amp; autonomie : la mobilité, un droit</a:t>
            </a:r>
            <a:endParaRPr lang="en-US" sz="2800"/>
          </a:p>
        </p:txBody>
      </p:sp>
      <p:sp>
        <p:nvSpPr>
          <p:cNvPr id="1713621488" name="Shape 2"/>
          <p:cNvSpPr/>
          <p:nvPr/>
        </p:nvSpPr>
        <p:spPr bwMode="auto">
          <a:xfrm>
            <a:off x="8991295" y="566928"/>
            <a:ext cx="2560320" cy="457200"/>
          </a:xfrm>
          <a:prstGeom prst="roundRect">
            <a:avLst>
              <a:gd name="adj" fmla="val 50000"/>
            </a:avLst>
          </a:prstGeom>
          <a:solidFill>
            <a:srgbClr val="A60510"/>
          </a:solidFill>
          <a:ln/>
        </p:spPr>
      </p:sp>
      <p:sp>
        <p:nvSpPr>
          <p:cNvPr id="1570987328" name="Text 3"/>
          <p:cNvSpPr/>
          <p:nvPr/>
        </p:nvSpPr>
        <p:spPr bwMode="auto">
          <a:xfrm>
            <a:off x="8991295" y="566928"/>
            <a:ext cx="2560320" cy="457200"/>
          </a:xfrm>
          <a:prstGeom prst="rect">
            <a:avLst/>
          </a:prstGeom>
          <a:noFill/>
          <a:ln/>
        </p:spPr>
        <p:txBody>
          <a:bodyPr wrap="square" lIns="0" tIns="0" rIns="0" bIns="0" rtlCol="0" anchor="ctr"/>
          <a:lstStyle/>
          <a:p>
            <a:pPr marL="0" indent="0" algn="ctr">
              <a:buNone/>
              <a:defRPr/>
            </a:pPr>
            <a:r>
              <a:rPr lang="en-US" sz="1150" b="1" spc="100">
                <a:solidFill>
                  <a:srgbClr val="FFFFFF"/>
                </a:solidFill>
                <a:latin typeface="Calibri"/>
                <a:ea typeface="Calibri"/>
                <a:cs typeface="Calibri"/>
              </a:rPr>
              <a:t>PARTIE 1 · SOFIAN</a:t>
            </a:r>
            <a:endParaRPr lang="en-US" sz="1150"/>
          </a:p>
        </p:txBody>
      </p:sp>
      <p:sp>
        <p:nvSpPr>
          <p:cNvPr id="158875944" name="Shape 4"/>
          <p:cNvSpPr/>
          <p:nvPr/>
        </p:nvSpPr>
        <p:spPr bwMode="auto">
          <a:xfrm>
            <a:off x="777240" y="2807208"/>
            <a:ext cx="420624" cy="420624"/>
          </a:xfrm>
          <a:prstGeom prst="ellipse">
            <a:avLst/>
          </a:prstGeom>
          <a:solidFill>
            <a:srgbClr val="FCE9E9"/>
          </a:solidFill>
          <a:ln/>
        </p:spPr>
      </p:sp>
      <p:sp>
        <p:nvSpPr>
          <p:cNvPr id="2044054233" name="Text 5"/>
          <p:cNvSpPr/>
          <p:nvPr/>
        </p:nvSpPr>
        <p:spPr bwMode="auto">
          <a:xfrm>
            <a:off x="777240" y="280720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1</a:t>
            </a:r>
            <a:endParaRPr lang="en-US" sz="1600"/>
          </a:p>
        </p:txBody>
      </p:sp>
      <p:sp>
        <p:nvSpPr>
          <p:cNvPr id="696920927" name="Text 6"/>
          <p:cNvSpPr/>
          <p:nvPr/>
        </p:nvSpPr>
        <p:spPr bwMode="auto">
          <a:xfrm>
            <a:off x="1417320" y="263347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La mobilité reste un droit,</a:t>
            </a:r>
            <a:r>
              <a:rPr lang="en-US" sz="1650">
                <a:solidFill>
                  <a:srgbClr val="5B6470"/>
                </a:solidFill>
                <a:latin typeface="Calibri"/>
                <a:ea typeface="Calibri"/>
                <a:cs typeface="Calibri"/>
              </a:rPr>
              <a:t>  jamais un privilège réservé aux personnes « connectées ».</a:t>
            </a:r>
            <a:endParaRPr lang="en-US" sz="1650"/>
          </a:p>
        </p:txBody>
      </p:sp>
      <p:sp>
        <p:nvSpPr>
          <p:cNvPr id="804561542" name="Shape 7"/>
          <p:cNvSpPr/>
          <p:nvPr/>
        </p:nvSpPr>
        <p:spPr bwMode="auto">
          <a:xfrm>
            <a:off x="777240" y="3858768"/>
            <a:ext cx="420624" cy="420624"/>
          </a:xfrm>
          <a:prstGeom prst="ellipse">
            <a:avLst/>
          </a:prstGeom>
          <a:solidFill>
            <a:srgbClr val="FCE9E9"/>
          </a:solidFill>
          <a:ln/>
        </p:spPr>
      </p:sp>
      <p:sp>
        <p:nvSpPr>
          <p:cNvPr id="423203999" name="Text 8"/>
          <p:cNvSpPr/>
          <p:nvPr/>
        </p:nvSpPr>
        <p:spPr bwMode="auto">
          <a:xfrm>
            <a:off x="777240" y="385876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2</a:t>
            </a:r>
            <a:endParaRPr lang="en-US" sz="1600"/>
          </a:p>
        </p:txBody>
      </p:sp>
      <p:sp>
        <p:nvSpPr>
          <p:cNvPr id="522295203" name="Text 9"/>
          <p:cNvSpPr/>
          <p:nvPr/>
        </p:nvSpPr>
        <p:spPr bwMode="auto">
          <a:xfrm>
            <a:off x="1417320" y="368503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Toujours une alternative non numérique</a:t>
            </a:r>
            <a:r>
              <a:rPr lang="en-US" sz="1650">
                <a:solidFill>
                  <a:srgbClr val="5B6470"/>
                </a:solidFill>
                <a:latin typeface="Calibri"/>
                <a:ea typeface="Calibri"/>
                <a:cs typeface="Calibri"/>
              </a:rPr>
              <a:t>  (guichet, automate simple, billet papier) - et sans surcoût.</a:t>
            </a:r>
            <a:endParaRPr lang="en-US" sz="1650"/>
          </a:p>
        </p:txBody>
      </p:sp>
      <p:sp>
        <p:nvSpPr>
          <p:cNvPr id="401485874" name="Shape 10"/>
          <p:cNvSpPr/>
          <p:nvPr/>
        </p:nvSpPr>
        <p:spPr bwMode="auto">
          <a:xfrm>
            <a:off x="777240" y="4910328"/>
            <a:ext cx="420624" cy="420624"/>
          </a:xfrm>
          <a:prstGeom prst="ellipse">
            <a:avLst/>
          </a:prstGeom>
          <a:solidFill>
            <a:srgbClr val="FCE9E9"/>
          </a:solidFill>
          <a:ln/>
        </p:spPr>
      </p:sp>
      <p:sp>
        <p:nvSpPr>
          <p:cNvPr id="542655084" name="Text 11"/>
          <p:cNvSpPr/>
          <p:nvPr/>
        </p:nvSpPr>
        <p:spPr bwMode="auto">
          <a:xfrm>
            <a:off x="777240" y="491032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3</a:t>
            </a:r>
            <a:endParaRPr lang="en-US" sz="1600"/>
          </a:p>
        </p:txBody>
      </p:sp>
      <p:sp>
        <p:nvSpPr>
          <p:cNvPr id="609929245" name="Text 12"/>
          <p:cNvSpPr/>
          <p:nvPr/>
        </p:nvSpPr>
        <p:spPr bwMode="auto">
          <a:xfrm>
            <a:off x="1417320" y="473659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Accessibilité &amp; design universel (WCAG),</a:t>
            </a:r>
            <a:r>
              <a:rPr lang="en-US" sz="1650">
                <a:solidFill>
                  <a:srgbClr val="5B6470"/>
                </a:solidFill>
                <a:latin typeface="Calibri"/>
                <a:ea typeface="Calibri"/>
                <a:cs typeface="Calibri"/>
              </a:rPr>
              <a:t>  pensés avec les personnes concernées, sans aucune stigmatisation.</a:t>
            </a:r>
            <a:endParaRPr lang="en-US" sz="16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sp>
        <p:nvSpPr>
          <p:cNvPr id="1282019897" name="Shape 0"/>
          <p:cNvSpPr/>
          <p:nvPr/>
        </p:nvSpPr>
        <p:spPr bwMode="auto">
          <a:xfrm>
            <a:off x="640080" y="457200"/>
            <a:ext cx="749808" cy="749808"/>
          </a:xfrm>
          <a:prstGeom prst="ellipse">
            <a:avLst/>
          </a:prstGeom>
          <a:solidFill>
            <a:srgbClr val="EB0000"/>
          </a:solidFill>
          <a:ln/>
        </p:spPr>
      </p:sp>
      <p:pic>
        <p:nvPicPr>
          <p:cNvPr id="1852592546" name="Image 0" descr="preencoded.png"/>
          <p:cNvPicPr>
            <a:picLocks noChangeAspect="1"/>
          </p:cNvPicPr>
          <p:nvPr/>
        </p:nvPicPr>
        <p:blipFill rotWithShape="1">
          <a:blip r:embed="rId3"/>
          <a:stretch/>
        </p:blipFill>
        <p:spPr bwMode="auto">
          <a:xfrm>
            <a:off x="841248" y="658368"/>
            <a:ext cx="347472" cy="347472"/>
          </a:xfrm>
          <a:prstGeom prst="rect">
            <a:avLst/>
          </a:prstGeom>
        </p:spPr>
      </p:pic>
      <p:sp>
        <p:nvSpPr>
          <p:cNvPr id="1752156976" name="Text 1"/>
          <p:cNvSpPr/>
          <p:nvPr/>
        </p:nvSpPr>
        <p:spPr bwMode="auto">
          <a:xfrm>
            <a:off x="1600200" y="411480"/>
            <a:ext cx="7863840" cy="868680"/>
          </a:xfrm>
          <a:prstGeom prst="rect">
            <a:avLst/>
          </a:prstGeom>
          <a:noFill/>
          <a:ln/>
        </p:spPr>
        <p:txBody>
          <a:bodyPr wrap="square" lIns="0" tIns="0" rIns="0" bIns="0" rtlCol="0" anchor="ctr"/>
          <a:lstStyle/>
          <a:p>
            <a:pPr marL="0" indent="0">
              <a:buNone/>
              <a:defRPr/>
            </a:pPr>
            <a:r>
              <a:rPr lang="en-US" sz="2800" b="1">
                <a:solidFill>
                  <a:srgbClr val="1F2328"/>
                </a:solidFill>
                <a:latin typeface="Calibri"/>
                <a:ea typeface="Calibri"/>
                <a:cs typeface="Calibri"/>
              </a:rPr>
              <a:t>IA : garder l'humain aux commandes</a:t>
            </a:r>
            <a:endParaRPr lang="en-US" sz="2800"/>
          </a:p>
        </p:txBody>
      </p:sp>
      <p:sp>
        <p:nvSpPr>
          <p:cNvPr id="1811181318" name="Shape 2"/>
          <p:cNvSpPr/>
          <p:nvPr/>
        </p:nvSpPr>
        <p:spPr bwMode="auto">
          <a:xfrm>
            <a:off x="8991295" y="566928"/>
            <a:ext cx="2560320" cy="457200"/>
          </a:xfrm>
          <a:prstGeom prst="roundRect">
            <a:avLst>
              <a:gd name="adj" fmla="val 50000"/>
            </a:avLst>
          </a:prstGeom>
          <a:solidFill>
            <a:srgbClr val="A60510"/>
          </a:solidFill>
          <a:ln/>
        </p:spPr>
      </p:sp>
      <p:sp>
        <p:nvSpPr>
          <p:cNvPr id="1556662021" name="Text 3"/>
          <p:cNvSpPr/>
          <p:nvPr/>
        </p:nvSpPr>
        <p:spPr bwMode="auto">
          <a:xfrm>
            <a:off x="8991295" y="566928"/>
            <a:ext cx="2560320" cy="457200"/>
          </a:xfrm>
          <a:prstGeom prst="rect">
            <a:avLst/>
          </a:prstGeom>
          <a:noFill/>
          <a:ln/>
        </p:spPr>
        <p:txBody>
          <a:bodyPr wrap="square" lIns="0" tIns="0" rIns="0" bIns="0" rtlCol="0" anchor="ctr"/>
          <a:lstStyle/>
          <a:p>
            <a:pPr marL="0" indent="0" algn="ctr">
              <a:buNone/>
              <a:defRPr/>
            </a:pPr>
            <a:r>
              <a:rPr lang="en-US" sz="1150" b="1" spc="100">
                <a:solidFill>
                  <a:srgbClr val="FFFFFF"/>
                </a:solidFill>
                <a:latin typeface="Calibri"/>
                <a:ea typeface="Calibri"/>
                <a:cs typeface="Calibri"/>
              </a:rPr>
              <a:t>PARTIE 2 · ARTHUR</a:t>
            </a:r>
            <a:endParaRPr lang="en-US" sz="1150"/>
          </a:p>
        </p:txBody>
      </p:sp>
      <p:sp>
        <p:nvSpPr>
          <p:cNvPr id="433282490" name="Shape 4"/>
          <p:cNvSpPr/>
          <p:nvPr/>
        </p:nvSpPr>
        <p:spPr bwMode="auto">
          <a:xfrm>
            <a:off x="777240" y="2281428"/>
            <a:ext cx="420624" cy="420624"/>
          </a:xfrm>
          <a:prstGeom prst="ellipse">
            <a:avLst/>
          </a:prstGeom>
          <a:solidFill>
            <a:srgbClr val="FCE9E9"/>
          </a:solidFill>
          <a:ln/>
        </p:spPr>
      </p:sp>
      <p:sp>
        <p:nvSpPr>
          <p:cNvPr id="2059219209" name="Text 5"/>
          <p:cNvSpPr/>
          <p:nvPr/>
        </p:nvSpPr>
        <p:spPr bwMode="auto">
          <a:xfrm>
            <a:off x="777240" y="228142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1</a:t>
            </a:r>
            <a:endParaRPr lang="en-US" sz="1600"/>
          </a:p>
        </p:txBody>
      </p:sp>
      <p:sp>
        <p:nvSpPr>
          <p:cNvPr id="191259093" name="Text 6"/>
          <p:cNvSpPr/>
          <p:nvPr/>
        </p:nvSpPr>
        <p:spPr bwMode="auto">
          <a:xfrm>
            <a:off x="1417320" y="210769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Transparence :</a:t>
            </a:r>
            <a:r>
              <a:rPr lang="en-US" sz="1650">
                <a:solidFill>
                  <a:srgbClr val="5B6470"/>
                </a:solidFill>
                <a:latin typeface="Calibri"/>
                <a:ea typeface="Calibri"/>
                <a:cs typeface="Calibri"/>
              </a:rPr>
              <a:t>  savoir quand une décision est automatisée et comment un prix est calculé.</a:t>
            </a:r>
            <a:endParaRPr lang="en-US" sz="1650"/>
          </a:p>
        </p:txBody>
      </p:sp>
      <p:sp>
        <p:nvSpPr>
          <p:cNvPr id="1004696832" name="Shape 7"/>
          <p:cNvSpPr/>
          <p:nvPr/>
        </p:nvSpPr>
        <p:spPr bwMode="auto">
          <a:xfrm>
            <a:off x="777240" y="3332988"/>
            <a:ext cx="420624" cy="420624"/>
          </a:xfrm>
          <a:prstGeom prst="ellipse">
            <a:avLst/>
          </a:prstGeom>
          <a:solidFill>
            <a:srgbClr val="FCE9E9"/>
          </a:solidFill>
          <a:ln/>
        </p:spPr>
      </p:sp>
      <p:sp>
        <p:nvSpPr>
          <p:cNvPr id="1591641589" name="Text 8"/>
          <p:cNvSpPr/>
          <p:nvPr/>
        </p:nvSpPr>
        <p:spPr bwMode="auto">
          <a:xfrm>
            <a:off x="777240" y="333298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2</a:t>
            </a:r>
            <a:endParaRPr lang="en-US" sz="1600"/>
          </a:p>
        </p:txBody>
      </p:sp>
      <p:sp>
        <p:nvSpPr>
          <p:cNvPr id="1622914804" name="Text 9"/>
          <p:cNvSpPr/>
          <p:nvPr/>
        </p:nvSpPr>
        <p:spPr bwMode="auto">
          <a:xfrm>
            <a:off x="1417320" y="315925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 Human in the loop » :</a:t>
            </a:r>
            <a:r>
              <a:rPr lang="en-US" sz="1650">
                <a:solidFill>
                  <a:srgbClr val="5B6470"/>
                </a:solidFill>
                <a:latin typeface="Calibri"/>
                <a:ea typeface="Calibri"/>
                <a:cs typeface="Calibri"/>
              </a:rPr>
              <a:t>  aucune décision lourde (amende, blocage) prise par l'algorithme seul.</a:t>
            </a:r>
            <a:endParaRPr lang="en-US" sz="1650"/>
          </a:p>
        </p:txBody>
      </p:sp>
      <p:sp>
        <p:nvSpPr>
          <p:cNvPr id="1606963571" name="Shape 10"/>
          <p:cNvSpPr/>
          <p:nvPr/>
        </p:nvSpPr>
        <p:spPr bwMode="auto">
          <a:xfrm>
            <a:off x="777240" y="4384548"/>
            <a:ext cx="420624" cy="420624"/>
          </a:xfrm>
          <a:prstGeom prst="ellipse">
            <a:avLst/>
          </a:prstGeom>
          <a:solidFill>
            <a:srgbClr val="FCE9E9"/>
          </a:solidFill>
          <a:ln/>
        </p:spPr>
      </p:sp>
      <p:sp>
        <p:nvSpPr>
          <p:cNvPr id="1103630236" name="Text 11"/>
          <p:cNvSpPr/>
          <p:nvPr/>
        </p:nvSpPr>
        <p:spPr bwMode="auto">
          <a:xfrm>
            <a:off x="777240" y="438454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3</a:t>
            </a:r>
            <a:endParaRPr lang="en-US" sz="1600"/>
          </a:p>
        </p:txBody>
      </p:sp>
      <p:sp>
        <p:nvSpPr>
          <p:cNvPr id="1443345044" name="Text 12"/>
          <p:cNvSpPr/>
          <p:nvPr/>
        </p:nvSpPr>
        <p:spPr bwMode="auto">
          <a:xfrm>
            <a:off x="1417320" y="421081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Lutte contre les biais :</a:t>
            </a:r>
            <a:r>
              <a:rPr lang="en-US" sz="1650">
                <a:solidFill>
                  <a:srgbClr val="5B6470"/>
                </a:solidFill>
                <a:latin typeface="Calibri"/>
                <a:ea typeface="Calibri"/>
                <a:cs typeface="Calibri"/>
              </a:rPr>
              <a:t>  audits pour ne pas désavantager selon le revenu, l'âge, le quartier, le handicap.</a:t>
            </a:r>
            <a:endParaRPr lang="en-US" sz="1650"/>
          </a:p>
        </p:txBody>
      </p:sp>
      <p:sp>
        <p:nvSpPr>
          <p:cNvPr id="1291193684" name="Shape 13"/>
          <p:cNvSpPr/>
          <p:nvPr/>
        </p:nvSpPr>
        <p:spPr bwMode="auto">
          <a:xfrm>
            <a:off x="777240" y="5436107"/>
            <a:ext cx="420624" cy="420624"/>
          </a:xfrm>
          <a:prstGeom prst="ellipse">
            <a:avLst/>
          </a:prstGeom>
          <a:solidFill>
            <a:srgbClr val="FCE9E9"/>
          </a:solidFill>
          <a:ln/>
        </p:spPr>
      </p:sp>
      <p:sp>
        <p:nvSpPr>
          <p:cNvPr id="3609639" name="Text 14"/>
          <p:cNvSpPr/>
          <p:nvPr/>
        </p:nvSpPr>
        <p:spPr bwMode="auto">
          <a:xfrm>
            <a:off x="777240" y="5436107"/>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4</a:t>
            </a:r>
            <a:endParaRPr lang="en-US" sz="1600"/>
          </a:p>
        </p:txBody>
      </p:sp>
      <p:sp>
        <p:nvSpPr>
          <p:cNvPr id="798977127" name="Text 15"/>
          <p:cNvSpPr/>
          <p:nvPr/>
        </p:nvSpPr>
        <p:spPr bwMode="auto">
          <a:xfrm>
            <a:off x="1417320" y="526237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L'IA assiste,</a:t>
            </a:r>
            <a:r>
              <a:rPr lang="en-US" sz="1650">
                <a:solidFill>
                  <a:srgbClr val="5B6470"/>
                </a:solidFill>
                <a:latin typeface="Calibri"/>
                <a:ea typeface="Calibri"/>
                <a:cs typeface="Calibri"/>
              </a:rPr>
              <a:t>  elle ne remplace pas le jugement humain.</a:t>
            </a:r>
            <a:endParaRPr lang="en-US" sz="16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834567039" name="Shape 0"/>
          <p:cNvSpPr/>
          <p:nvPr/>
        </p:nvSpPr>
        <p:spPr bwMode="auto">
          <a:xfrm>
            <a:off x="640080" y="457200"/>
            <a:ext cx="749808" cy="749808"/>
          </a:xfrm>
          <a:prstGeom prst="ellipse">
            <a:avLst/>
          </a:prstGeom>
          <a:solidFill>
            <a:srgbClr val="EB0000"/>
          </a:solidFill>
          <a:ln/>
        </p:spPr>
      </p:sp>
      <p:pic>
        <p:nvPicPr>
          <p:cNvPr id="1050561795" name="Image 0" descr="preencoded.png"/>
          <p:cNvPicPr>
            <a:picLocks noChangeAspect="1"/>
          </p:cNvPicPr>
          <p:nvPr/>
        </p:nvPicPr>
        <p:blipFill rotWithShape="1">
          <a:blip r:embed="rId3"/>
          <a:stretch/>
        </p:blipFill>
        <p:spPr bwMode="auto">
          <a:xfrm>
            <a:off x="841248" y="658368"/>
            <a:ext cx="347472" cy="347472"/>
          </a:xfrm>
          <a:prstGeom prst="rect">
            <a:avLst/>
          </a:prstGeom>
        </p:spPr>
      </p:pic>
      <p:sp>
        <p:nvSpPr>
          <p:cNvPr id="478204271" name="Text 1"/>
          <p:cNvSpPr/>
          <p:nvPr/>
        </p:nvSpPr>
        <p:spPr bwMode="auto">
          <a:xfrm>
            <a:off x="1600200" y="411480"/>
            <a:ext cx="7863840" cy="868680"/>
          </a:xfrm>
          <a:prstGeom prst="rect">
            <a:avLst/>
          </a:prstGeom>
          <a:noFill/>
          <a:ln/>
        </p:spPr>
        <p:txBody>
          <a:bodyPr wrap="square" lIns="0" tIns="0" rIns="0" bIns="0" rtlCol="0" anchor="ctr"/>
          <a:lstStyle/>
          <a:p>
            <a:pPr marL="0" indent="0">
              <a:buNone/>
              <a:defRPr/>
            </a:pPr>
            <a:r>
              <a:rPr lang="en-US" sz="2800" b="1">
                <a:solidFill>
                  <a:srgbClr val="1F2328"/>
                </a:solidFill>
                <a:latin typeface="Calibri"/>
                <a:ea typeface="Calibri"/>
                <a:cs typeface="Calibri"/>
              </a:rPr>
              <a:t>Données &amp; vie privée : la confiance d'abord</a:t>
            </a:r>
            <a:endParaRPr lang="en-US" sz="2800"/>
          </a:p>
        </p:txBody>
      </p:sp>
      <p:sp>
        <p:nvSpPr>
          <p:cNvPr id="6589324" name="Shape 2"/>
          <p:cNvSpPr/>
          <p:nvPr/>
        </p:nvSpPr>
        <p:spPr bwMode="auto">
          <a:xfrm>
            <a:off x="8991295" y="566928"/>
            <a:ext cx="2560320" cy="457200"/>
          </a:xfrm>
          <a:prstGeom prst="roundRect">
            <a:avLst>
              <a:gd name="adj" fmla="val 50000"/>
            </a:avLst>
          </a:prstGeom>
          <a:solidFill>
            <a:srgbClr val="A60510"/>
          </a:solidFill>
          <a:ln/>
        </p:spPr>
      </p:sp>
      <p:sp>
        <p:nvSpPr>
          <p:cNvPr id="551185759" name="Text 3"/>
          <p:cNvSpPr/>
          <p:nvPr/>
        </p:nvSpPr>
        <p:spPr bwMode="auto">
          <a:xfrm>
            <a:off x="8991295" y="566928"/>
            <a:ext cx="2560320" cy="457200"/>
          </a:xfrm>
          <a:prstGeom prst="rect">
            <a:avLst/>
          </a:prstGeom>
          <a:noFill/>
          <a:ln/>
        </p:spPr>
        <p:txBody>
          <a:bodyPr wrap="square" lIns="0" tIns="0" rIns="0" bIns="0" rtlCol="0" anchor="ctr"/>
          <a:lstStyle/>
          <a:p>
            <a:pPr marL="0" indent="0" algn="ctr">
              <a:buNone/>
              <a:defRPr/>
            </a:pPr>
            <a:r>
              <a:rPr lang="en-US" sz="1150" b="1" spc="100">
                <a:solidFill>
                  <a:srgbClr val="FFFFFF"/>
                </a:solidFill>
                <a:latin typeface="Calibri"/>
                <a:ea typeface="Calibri"/>
                <a:cs typeface="Calibri"/>
              </a:rPr>
              <a:t>PARTIE 2 · ARTHUR</a:t>
            </a:r>
            <a:endParaRPr lang="en-US" sz="1150"/>
          </a:p>
        </p:txBody>
      </p:sp>
      <p:sp>
        <p:nvSpPr>
          <p:cNvPr id="429688116" name="Shape 4"/>
          <p:cNvSpPr/>
          <p:nvPr/>
        </p:nvSpPr>
        <p:spPr bwMode="auto">
          <a:xfrm>
            <a:off x="777240" y="2281428"/>
            <a:ext cx="420624" cy="420624"/>
          </a:xfrm>
          <a:prstGeom prst="ellipse">
            <a:avLst/>
          </a:prstGeom>
          <a:solidFill>
            <a:srgbClr val="FCE9E9"/>
          </a:solidFill>
          <a:ln/>
        </p:spPr>
      </p:sp>
      <p:sp>
        <p:nvSpPr>
          <p:cNvPr id="690739577" name="Text 5"/>
          <p:cNvSpPr/>
          <p:nvPr/>
        </p:nvSpPr>
        <p:spPr bwMode="auto">
          <a:xfrm>
            <a:off x="777240" y="228142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1</a:t>
            </a:r>
            <a:endParaRPr lang="en-US" sz="1600"/>
          </a:p>
        </p:txBody>
      </p:sp>
      <p:sp>
        <p:nvSpPr>
          <p:cNvPr id="368849839" name="Text 6"/>
          <p:cNvSpPr/>
          <p:nvPr/>
        </p:nvSpPr>
        <p:spPr bwMode="auto">
          <a:xfrm>
            <a:off x="1417320" y="210769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Collecte minimale,</a:t>
            </a:r>
            <a:r>
              <a:rPr lang="en-US" sz="1650">
                <a:solidFill>
                  <a:srgbClr val="5B6470"/>
                </a:solidFill>
                <a:latin typeface="Calibri"/>
                <a:ea typeface="Calibri"/>
                <a:cs typeface="Calibri"/>
              </a:rPr>
              <a:t>  finalité limitée, données hébergées en Suisse.</a:t>
            </a:r>
            <a:endParaRPr lang="en-US" sz="1650"/>
          </a:p>
        </p:txBody>
      </p:sp>
      <p:sp>
        <p:nvSpPr>
          <p:cNvPr id="178917257" name="Shape 7"/>
          <p:cNvSpPr/>
          <p:nvPr/>
        </p:nvSpPr>
        <p:spPr bwMode="auto">
          <a:xfrm>
            <a:off x="777240" y="3332988"/>
            <a:ext cx="420624" cy="420624"/>
          </a:xfrm>
          <a:prstGeom prst="ellipse">
            <a:avLst/>
          </a:prstGeom>
          <a:solidFill>
            <a:srgbClr val="FCE9E9"/>
          </a:solidFill>
          <a:ln/>
        </p:spPr>
      </p:sp>
      <p:sp>
        <p:nvSpPr>
          <p:cNvPr id="977125911" name="Text 8"/>
          <p:cNvSpPr/>
          <p:nvPr/>
        </p:nvSpPr>
        <p:spPr bwMode="auto">
          <a:xfrm>
            <a:off x="777240" y="333298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2</a:t>
            </a:r>
            <a:endParaRPr lang="en-US" sz="1600"/>
          </a:p>
        </p:txBody>
      </p:sp>
      <p:sp>
        <p:nvSpPr>
          <p:cNvPr id="756824996" name="Text 9"/>
          <p:cNvSpPr/>
          <p:nvPr/>
        </p:nvSpPr>
        <p:spPr bwMode="auto">
          <a:xfrm>
            <a:off x="1417320" y="315925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Jamais de revente</a:t>
            </a:r>
            <a:r>
              <a:rPr lang="en-US" sz="1650">
                <a:solidFill>
                  <a:srgbClr val="5B6470"/>
                </a:solidFill>
                <a:latin typeface="Calibri"/>
                <a:ea typeface="Calibri"/>
                <a:cs typeface="Calibri"/>
              </a:rPr>
              <a:t>  à des tiers à des fins publicitaires.</a:t>
            </a:r>
            <a:endParaRPr lang="en-US" sz="1650"/>
          </a:p>
        </p:txBody>
      </p:sp>
      <p:sp>
        <p:nvSpPr>
          <p:cNvPr id="998153890" name="Shape 10"/>
          <p:cNvSpPr/>
          <p:nvPr/>
        </p:nvSpPr>
        <p:spPr bwMode="auto">
          <a:xfrm>
            <a:off x="777240" y="4384548"/>
            <a:ext cx="420624" cy="420624"/>
          </a:xfrm>
          <a:prstGeom prst="ellipse">
            <a:avLst/>
          </a:prstGeom>
          <a:solidFill>
            <a:srgbClr val="FCE9E9"/>
          </a:solidFill>
          <a:ln/>
        </p:spPr>
      </p:sp>
      <p:sp>
        <p:nvSpPr>
          <p:cNvPr id="489719918" name="Text 11"/>
          <p:cNvSpPr/>
          <p:nvPr/>
        </p:nvSpPr>
        <p:spPr bwMode="auto">
          <a:xfrm>
            <a:off x="777240" y="438454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3</a:t>
            </a:r>
            <a:endParaRPr lang="en-US" sz="1600"/>
          </a:p>
        </p:txBody>
      </p:sp>
      <p:sp>
        <p:nvSpPr>
          <p:cNvPr id="595327237" name="Text 12"/>
          <p:cNvSpPr/>
          <p:nvPr/>
        </p:nvSpPr>
        <p:spPr bwMode="auto">
          <a:xfrm>
            <a:off x="1417320" y="421081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Refus d'un historique</a:t>
            </a:r>
            <a:r>
              <a:rPr lang="en-US" sz="1650">
                <a:solidFill>
                  <a:srgbClr val="5B6470"/>
                </a:solidFill>
                <a:latin typeface="Calibri"/>
                <a:ea typeface="Calibri"/>
                <a:cs typeface="Calibri"/>
              </a:rPr>
              <a:t>  exhaustif et permanent des déplacements.</a:t>
            </a:r>
            <a:endParaRPr lang="en-US" sz="1650"/>
          </a:p>
        </p:txBody>
      </p:sp>
      <p:sp>
        <p:nvSpPr>
          <p:cNvPr id="562697562" name="Shape 13"/>
          <p:cNvSpPr/>
          <p:nvPr/>
        </p:nvSpPr>
        <p:spPr bwMode="auto">
          <a:xfrm>
            <a:off x="777240" y="5436107"/>
            <a:ext cx="420624" cy="420624"/>
          </a:xfrm>
          <a:prstGeom prst="ellipse">
            <a:avLst/>
          </a:prstGeom>
          <a:solidFill>
            <a:srgbClr val="FCE9E9"/>
          </a:solidFill>
          <a:ln/>
        </p:spPr>
      </p:sp>
      <p:sp>
        <p:nvSpPr>
          <p:cNvPr id="1470879487" name="Text 14"/>
          <p:cNvSpPr/>
          <p:nvPr/>
        </p:nvSpPr>
        <p:spPr bwMode="auto">
          <a:xfrm>
            <a:off x="777240" y="5436107"/>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4</a:t>
            </a:r>
            <a:endParaRPr lang="en-US" sz="1600"/>
          </a:p>
        </p:txBody>
      </p:sp>
      <p:sp>
        <p:nvSpPr>
          <p:cNvPr id="867143111" name="Text 15"/>
          <p:cNvSpPr/>
          <p:nvPr/>
        </p:nvSpPr>
        <p:spPr bwMode="auto">
          <a:xfrm>
            <a:off x="1417320" y="526237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Pas de biométrie imposée :</a:t>
            </a:r>
            <a:r>
              <a:rPr lang="en-US" sz="1650">
                <a:solidFill>
                  <a:srgbClr val="5B6470"/>
                </a:solidFill>
                <a:latin typeface="Calibri"/>
                <a:ea typeface="Calibri"/>
                <a:cs typeface="Calibri"/>
              </a:rPr>
              <a:t>  voyager de façon anonyme reste possible.</a:t>
            </a:r>
            <a:endParaRPr lang="en-US" sz="16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1520896777" name="Shape 0"/>
          <p:cNvSpPr/>
          <p:nvPr/>
        </p:nvSpPr>
        <p:spPr bwMode="auto">
          <a:xfrm>
            <a:off x="640080" y="457200"/>
            <a:ext cx="749808" cy="749808"/>
          </a:xfrm>
          <a:prstGeom prst="ellipse">
            <a:avLst/>
          </a:prstGeom>
          <a:solidFill>
            <a:srgbClr val="EB0000"/>
          </a:solidFill>
          <a:ln/>
        </p:spPr>
      </p:sp>
      <p:pic>
        <p:nvPicPr>
          <p:cNvPr id="1123732443" name="Image 0" descr="preencoded.png"/>
          <p:cNvPicPr>
            <a:picLocks noChangeAspect="1"/>
          </p:cNvPicPr>
          <p:nvPr/>
        </p:nvPicPr>
        <p:blipFill rotWithShape="1">
          <a:blip r:embed="rId3"/>
          <a:stretch/>
        </p:blipFill>
        <p:spPr bwMode="auto">
          <a:xfrm>
            <a:off x="841248" y="658368"/>
            <a:ext cx="347472" cy="347472"/>
          </a:xfrm>
          <a:prstGeom prst="rect">
            <a:avLst/>
          </a:prstGeom>
        </p:spPr>
      </p:pic>
      <p:sp>
        <p:nvSpPr>
          <p:cNvPr id="989839604" name="Text 1"/>
          <p:cNvSpPr/>
          <p:nvPr/>
        </p:nvSpPr>
        <p:spPr bwMode="auto">
          <a:xfrm>
            <a:off x="1600200" y="411480"/>
            <a:ext cx="7863840" cy="868680"/>
          </a:xfrm>
          <a:prstGeom prst="rect">
            <a:avLst/>
          </a:prstGeom>
          <a:noFill/>
          <a:ln/>
        </p:spPr>
        <p:txBody>
          <a:bodyPr wrap="square" lIns="0" tIns="0" rIns="0" bIns="0" rtlCol="0" anchor="ctr"/>
          <a:lstStyle/>
          <a:p>
            <a:pPr marL="0" indent="0">
              <a:buNone/>
              <a:defRPr/>
            </a:pPr>
            <a:r>
              <a:rPr lang="en-US" sz="2800" b="1">
                <a:solidFill>
                  <a:srgbClr val="1F2328"/>
                </a:solidFill>
                <a:latin typeface="Calibri"/>
                <a:ea typeface="Calibri"/>
                <a:cs typeface="Calibri"/>
              </a:rPr>
              <a:t>Hybridation : la technologie au service de l'humain</a:t>
            </a:r>
            <a:endParaRPr lang="en-US" sz="2800"/>
          </a:p>
        </p:txBody>
      </p:sp>
      <p:sp>
        <p:nvSpPr>
          <p:cNvPr id="463792863" name="Shape 2"/>
          <p:cNvSpPr/>
          <p:nvPr/>
        </p:nvSpPr>
        <p:spPr bwMode="auto">
          <a:xfrm>
            <a:off x="8991295" y="566928"/>
            <a:ext cx="2560320" cy="457200"/>
          </a:xfrm>
          <a:prstGeom prst="roundRect">
            <a:avLst>
              <a:gd name="adj" fmla="val 50000"/>
            </a:avLst>
          </a:prstGeom>
          <a:solidFill>
            <a:srgbClr val="A60510"/>
          </a:solidFill>
          <a:ln/>
        </p:spPr>
      </p:sp>
      <p:sp>
        <p:nvSpPr>
          <p:cNvPr id="1445882486" name="Text 3"/>
          <p:cNvSpPr/>
          <p:nvPr/>
        </p:nvSpPr>
        <p:spPr bwMode="auto">
          <a:xfrm>
            <a:off x="8991295" y="566928"/>
            <a:ext cx="2560320" cy="457200"/>
          </a:xfrm>
          <a:prstGeom prst="rect">
            <a:avLst/>
          </a:prstGeom>
          <a:noFill/>
          <a:ln/>
        </p:spPr>
        <p:txBody>
          <a:bodyPr wrap="square" lIns="0" tIns="0" rIns="0" bIns="0" rtlCol="0" anchor="ctr"/>
          <a:lstStyle/>
          <a:p>
            <a:pPr marL="0" indent="0" algn="ctr">
              <a:buNone/>
              <a:defRPr/>
            </a:pPr>
            <a:r>
              <a:rPr lang="en-US" sz="1150" b="1" spc="100">
                <a:solidFill>
                  <a:srgbClr val="FFFFFF"/>
                </a:solidFill>
                <a:latin typeface="Calibri"/>
                <a:ea typeface="Calibri"/>
                <a:cs typeface="Calibri"/>
              </a:rPr>
              <a:t>PARTIE 3 · MIRCO</a:t>
            </a:r>
            <a:endParaRPr lang="en-US" sz="1150"/>
          </a:p>
        </p:txBody>
      </p:sp>
      <p:sp>
        <p:nvSpPr>
          <p:cNvPr id="944448057" name="Shape 4"/>
          <p:cNvSpPr/>
          <p:nvPr/>
        </p:nvSpPr>
        <p:spPr bwMode="auto">
          <a:xfrm>
            <a:off x="777240" y="2807208"/>
            <a:ext cx="420624" cy="420624"/>
          </a:xfrm>
          <a:prstGeom prst="ellipse">
            <a:avLst/>
          </a:prstGeom>
          <a:solidFill>
            <a:srgbClr val="FCE9E9"/>
          </a:solidFill>
          <a:ln/>
        </p:spPr>
      </p:sp>
      <p:sp>
        <p:nvSpPr>
          <p:cNvPr id="748200201" name="Text 5"/>
          <p:cNvSpPr/>
          <p:nvPr/>
        </p:nvSpPr>
        <p:spPr bwMode="auto">
          <a:xfrm>
            <a:off x="777240" y="280720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1</a:t>
            </a:r>
            <a:endParaRPr lang="en-US" sz="1600"/>
          </a:p>
        </p:txBody>
      </p:sp>
      <p:sp>
        <p:nvSpPr>
          <p:cNvPr id="931513839" name="Text 6"/>
          <p:cNvSpPr/>
          <p:nvPr/>
        </p:nvSpPr>
        <p:spPr bwMode="auto">
          <a:xfrm>
            <a:off x="1417320" y="263347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La technologie augmente l'usager :</a:t>
            </a:r>
            <a:r>
              <a:rPr lang="en-US" sz="1650">
                <a:solidFill>
                  <a:srgbClr val="5B6470"/>
                </a:solidFill>
                <a:latin typeface="Calibri"/>
                <a:ea typeface="Calibri"/>
                <a:cs typeface="Calibri"/>
              </a:rPr>
              <a:t>  planifier, anticiper un retard, voyager sereinement.</a:t>
            </a:r>
            <a:endParaRPr lang="en-US" sz="1650"/>
          </a:p>
        </p:txBody>
      </p:sp>
      <p:sp>
        <p:nvSpPr>
          <p:cNvPr id="314792224" name="Shape 7"/>
          <p:cNvSpPr/>
          <p:nvPr/>
        </p:nvSpPr>
        <p:spPr bwMode="auto">
          <a:xfrm>
            <a:off x="777240" y="3858768"/>
            <a:ext cx="420624" cy="420624"/>
          </a:xfrm>
          <a:prstGeom prst="ellipse">
            <a:avLst/>
          </a:prstGeom>
          <a:solidFill>
            <a:srgbClr val="FCE9E9"/>
          </a:solidFill>
          <a:ln/>
        </p:spPr>
      </p:sp>
      <p:sp>
        <p:nvSpPr>
          <p:cNvPr id="562732657" name="Text 8"/>
          <p:cNvSpPr/>
          <p:nvPr/>
        </p:nvSpPr>
        <p:spPr bwMode="auto">
          <a:xfrm>
            <a:off x="777240" y="385876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2</a:t>
            </a:r>
            <a:endParaRPr lang="en-US" sz="1600"/>
          </a:p>
        </p:txBody>
      </p:sp>
      <p:sp>
        <p:nvSpPr>
          <p:cNvPr id="680336997" name="Text 9"/>
          <p:cNvSpPr/>
          <p:nvPr/>
        </p:nvSpPr>
        <p:spPr bwMode="auto">
          <a:xfrm>
            <a:off x="1417320" y="368503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Elle libère le personnel</a:t>
            </a:r>
            <a:r>
              <a:rPr lang="en-US" sz="1650">
                <a:solidFill>
                  <a:srgbClr val="5B6470"/>
                </a:solidFill>
                <a:latin typeface="Calibri"/>
                <a:ea typeface="Calibri"/>
                <a:cs typeface="Calibri"/>
              </a:rPr>
              <a:t>  des tâches répétitives, pour l'accompagnement et le conseil.</a:t>
            </a:r>
            <a:endParaRPr lang="en-US" sz="1650"/>
          </a:p>
        </p:txBody>
      </p:sp>
      <p:sp>
        <p:nvSpPr>
          <p:cNvPr id="776305647" name="Shape 10"/>
          <p:cNvSpPr/>
          <p:nvPr/>
        </p:nvSpPr>
        <p:spPr bwMode="auto">
          <a:xfrm>
            <a:off x="777240" y="4910328"/>
            <a:ext cx="420624" cy="420624"/>
          </a:xfrm>
          <a:prstGeom prst="ellipse">
            <a:avLst/>
          </a:prstGeom>
          <a:solidFill>
            <a:srgbClr val="FCE9E9"/>
          </a:solidFill>
          <a:ln/>
        </p:spPr>
      </p:sp>
      <p:sp>
        <p:nvSpPr>
          <p:cNvPr id="72216905" name="Text 11"/>
          <p:cNvSpPr/>
          <p:nvPr/>
        </p:nvSpPr>
        <p:spPr bwMode="auto">
          <a:xfrm>
            <a:off x="777240" y="491032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3</a:t>
            </a:r>
            <a:endParaRPr lang="en-US" sz="1600"/>
          </a:p>
        </p:txBody>
      </p:sp>
      <p:sp>
        <p:nvSpPr>
          <p:cNvPr id="1335462480" name="Text 12"/>
          <p:cNvSpPr/>
          <p:nvPr/>
        </p:nvSpPr>
        <p:spPr bwMode="auto">
          <a:xfrm>
            <a:off x="1417320" y="473659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La présence humaine en gare et à bord</a:t>
            </a:r>
            <a:r>
              <a:rPr lang="en-US" sz="1650">
                <a:solidFill>
                  <a:srgbClr val="5B6470"/>
                </a:solidFill>
                <a:latin typeface="Calibri"/>
                <a:ea typeface="Calibri"/>
                <a:cs typeface="Calibri"/>
              </a:rPr>
              <a:t>  est un choix assumé, pas un coût à supprimer.</a:t>
            </a:r>
            <a:endParaRPr lang="en-US" sz="16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FFFFF"/>
        </a:solidFill>
      </p:bgPr>
    </p:bg>
    <p:spTree>
      <p:nvGrpSpPr>
        <p:cNvPr id="1" name=""/>
        <p:cNvGrpSpPr/>
        <p:nvPr/>
      </p:nvGrpSpPr>
      <p:grpSpPr bwMode="auto">
        <a:xfrm>
          <a:off x="0" y="0"/>
          <a:ext cx="0" cy="0"/>
          <a:chOff x="0" y="0"/>
          <a:chExt cx="0" cy="0"/>
        </a:xfrm>
      </p:grpSpPr>
      <p:sp>
        <p:nvSpPr>
          <p:cNvPr id="273577765" name="Shape 0"/>
          <p:cNvSpPr/>
          <p:nvPr/>
        </p:nvSpPr>
        <p:spPr bwMode="auto">
          <a:xfrm>
            <a:off x="640080" y="457200"/>
            <a:ext cx="749808" cy="749808"/>
          </a:xfrm>
          <a:prstGeom prst="ellipse">
            <a:avLst/>
          </a:prstGeom>
          <a:solidFill>
            <a:srgbClr val="EB0000"/>
          </a:solidFill>
          <a:ln/>
        </p:spPr>
      </p:sp>
      <p:pic>
        <p:nvPicPr>
          <p:cNvPr id="721596811" name="Image 0" descr="preencoded.png"/>
          <p:cNvPicPr>
            <a:picLocks noChangeAspect="1"/>
          </p:cNvPicPr>
          <p:nvPr/>
        </p:nvPicPr>
        <p:blipFill rotWithShape="1">
          <a:blip r:embed="rId3"/>
          <a:stretch/>
        </p:blipFill>
        <p:spPr bwMode="auto">
          <a:xfrm>
            <a:off x="841248" y="658368"/>
            <a:ext cx="347472" cy="347472"/>
          </a:xfrm>
          <a:prstGeom prst="rect">
            <a:avLst/>
          </a:prstGeom>
        </p:spPr>
      </p:pic>
      <p:sp>
        <p:nvSpPr>
          <p:cNvPr id="2128325627" name="Text 1"/>
          <p:cNvSpPr/>
          <p:nvPr/>
        </p:nvSpPr>
        <p:spPr bwMode="auto">
          <a:xfrm>
            <a:off x="1600200" y="411480"/>
            <a:ext cx="7863840" cy="868680"/>
          </a:xfrm>
          <a:prstGeom prst="rect">
            <a:avLst/>
          </a:prstGeom>
          <a:noFill/>
          <a:ln/>
        </p:spPr>
        <p:txBody>
          <a:bodyPr wrap="square" lIns="0" tIns="0" rIns="0" bIns="0" rtlCol="0" anchor="ctr"/>
          <a:lstStyle/>
          <a:p>
            <a:pPr marL="0" indent="0">
              <a:buNone/>
              <a:defRPr/>
            </a:pPr>
            <a:r>
              <a:rPr lang="en-US" sz="2800" b="1">
                <a:solidFill>
                  <a:srgbClr val="1F2328"/>
                </a:solidFill>
                <a:latin typeface="Calibri"/>
                <a:ea typeface="Calibri"/>
                <a:cs typeface="Calibri"/>
              </a:rPr>
              <a:t>Durabilité : la sobriété, pas seulement « moins de papier »</a:t>
            </a:r>
            <a:endParaRPr lang="en-US" sz="2800"/>
          </a:p>
        </p:txBody>
      </p:sp>
      <p:sp>
        <p:nvSpPr>
          <p:cNvPr id="1075697585" name="Shape 2"/>
          <p:cNvSpPr/>
          <p:nvPr/>
        </p:nvSpPr>
        <p:spPr bwMode="auto">
          <a:xfrm>
            <a:off x="8991295" y="566928"/>
            <a:ext cx="2560320" cy="457200"/>
          </a:xfrm>
          <a:prstGeom prst="roundRect">
            <a:avLst>
              <a:gd name="adj" fmla="val 50000"/>
            </a:avLst>
          </a:prstGeom>
          <a:solidFill>
            <a:srgbClr val="A60510"/>
          </a:solidFill>
          <a:ln/>
        </p:spPr>
      </p:sp>
      <p:sp>
        <p:nvSpPr>
          <p:cNvPr id="299909333" name="Text 3"/>
          <p:cNvSpPr/>
          <p:nvPr/>
        </p:nvSpPr>
        <p:spPr bwMode="auto">
          <a:xfrm>
            <a:off x="8991295" y="566928"/>
            <a:ext cx="2560320" cy="457200"/>
          </a:xfrm>
          <a:prstGeom prst="rect">
            <a:avLst/>
          </a:prstGeom>
          <a:noFill/>
          <a:ln/>
        </p:spPr>
        <p:txBody>
          <a:bodyPr wrap="square" lIns="0" tIns="0" rIns="0" bIns="0" rtlCol="0" anchor="ctr"/>
          <a:lstStyle/>
          <a:p>
            <a:pPr marL="0" indent="0" algn="ctr">
              <a:buNone/>
              <a:defRPr/>
            </a:pPr>
            <a:r>
              <a:rPr lang="en-US" sz="1150" b="1" spc="100">
                <a:solidFill>
                  <a:srgbClr val="FFFFFF"/>
                </a:solidFill>
                <a:latin typeface="Calibri"/>
                <a:ea typeface="Calibri"/>
                <a:cs typeface="Calibri"/>
              </a:rPr>
              <a:t>PARTIE 3 · MIRCO</a:t>
            </a:r>
            <a:endParaRPr lang="en-US" sz="1150"/>
          </a:p>
        </p:txBody>
      </p:sp>
      <p:sp>
        <p:nvSpPr>
          <p:cNvPr id="326646144" name="Shape 4"/>
          <p:cNvSpPr/>
          <p:nvPr/>
        </p:nvSpPr>
        <p:spPr bwMode="auto">
          <a:xfrm>
            <a:off x="777240" y="2281428"/>
            <a:ext cx="420624" cy="420624"/>
          </a:xfrm>
          <a:prstGeom prst="ellipse">
            <a:avLst/>
          </a:prstGeom>
          <a:solidFill>
            <a:srgbClr val="FCE9E9"/>
          </a:solidFill>
          <a:ln/>
        </p:spPr>
      </p:sp>
      <p:sp>
        <p:nvSpPr>
          <p:cNvPr id="236241986" name="Text 5"/>
          <p:cNvSpPr/>
          <p:nvPr/>
        </p:nvSpPr>
        <p:spPr bwMode="auto">
          <a:xfrm>
            <a:off x="777240" y="228142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1</a:t>
            </a:r>
            <a:endParaRPr lang="en-US" sz="1600"/>
          </a:p>
        </p:txBody>
      </p:sp>
      <p:sp>
        <p:nvSpPr>
          <p:cNvPr id="44410576" name="Text 6"/>
          <p:cNvSpPr/>
          <p:nvPr/>
        </p:nvSpPr>
        <p:spPr bwMode="auto">
          <a:xfrm>
            <a:off x="1417320" y="210769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Numériser ce qui a une valeur réelle,</a:t>
            </a:r>
            <a:r>
              <a:rPr lang="en-US" sz="1650">
                <a:solidFill>
                  <a:srgbClr val="5B6470"/>
                </a:solidFill>
                <a:latin typeface="Calibri"/>
                <a:ea typeface="Calibri"/>
                <a:cs typeface="Calibri"/>
              </a:rPr>
              <a:t>  pas multiplier les usages.</a:t>
            </a:r>
            <a:endParaRPr lang="en-US" sz="1650"/>
          </a:p>
        </p:txBody>
      </p:sp>
      <p:sp>
        <p:nvSpPr>
          <p:cNvPr id="1377424641" name="Shape 7"/>
          <p:cNvSpPr/>
          <p:nvPr/>
        </p:nvSpPr>
        <p:spPr bwMode="auto">
          <a:xfrm>
            <a:off x="777240" y="3332988"/>
            <a:ext cx="420624" cy="420624"/>
          </a:xfrm>
          <a:prstGeom prst="ellipse">
            <a:avLst/>
          </a:prstGeom>
          <a:solidFill>
            <a:srgbClr val="FCE9E9"/>
          </a:solidFill>
          <a:ln/>
        </p:spPr>
      </p:sp>
      <p:sp>
        <p:nvSpPr>
          <p:cNvPr id="589154845" name="Text 8"/>
          <p:cNvSpPr/>
          <p:nvPr/>
        </p:nvSpPr>
        <p:spPr bwMode="auto">
          <a:xfrm>
            <a:off x="777240" y="333298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2</a:t>
            </a:r>
            <a:endParaRPr lang="en-US" sz="1600"/>
          </a:p>
        </p:txBody>
      </p:sp>
      <p:sp>
        <p:nvSpPr>
          <p:cNvPr id="990888863" name="Text 9"/>
          <p:cNvSpPr/>
          <p:nvPr/>
        </p:nvSpPr>
        <p:spPr bwMode="auto">
          <a:xfrm>
            <a:off x="1417320" y="315925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Écoconception :</a:t>
            </a:r>
            <a:r>
              <a:rPr lang="en-US" sz="1650">
                <a:solidFill>
                  <a:srgbClr val="5B6470"/>
                </a:solidFill>
                <a:latin typeface="Calibri"/>
                <a:ea typeface="Calibri"/>
                <a:cs typeface="Calibri"/>
              </a:rPr>
              <a:t>  apps légères pour smartphones anciens — contre l'obsolescence.</a:t>
            </a:r>
            <a:endParaRPr lang="en-US" sz="1650"/>
          </a:p>
        </p:txBody>
      </p:sp>
      <p:sp>
        <p:nvSpPr>
          <p:cNvPr id="1337178707" name="Shape 10"/>
          <p:cNvSpPr/>
          <p:nvPr/>
        </p:nvSpPr>
        <p:spPr bwMode="auto">
          <a:xfrm>
            <a:off x="777240" y="4384548"/>
            <a:ext cx="420624" cy="420624"/>
          </a:xfrm>
          <a:prstGeom prst="ellipse">
            <a:avLst/>
          </a:prstGeom>
          <a:solidFill>
            <a:srgbClr val="FCE9E9"/>
          </a:solidFill>
          <a:ln/>
        </p:spPr>
      </p:sp>
      <p:sp>
        <p:nvSpPr>
          <p:cNvPr id="1964348568" name="Text 11"/>
          <p:cNvSpPr/>
          <p:nvPr/>
        </p:nvSpPr>
        <p:spPr bwMode="auto">
          <a:xfrm>
            <a:off x="777240" y="4384548"/>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3</a:t>
            </a:r>
            <a:endParaRPr lang="en-US" sz="1600"/>
          </a:p>
        </p:txBody>
      </p:sp>
      <p:sp>
        <p:nvSpPr>
          <p:cNvPr id="924111887" name="Text 12"/>
          <p:cNvSpPr/>
          <p:nvPr/>
        </p:nvSpPr>
        <p:spPr bwMode="auto">
          <a:xfrm>
            <a:off x="1417320" y="421081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Supports durables (SwissPass),</a:t>
            </a:r>
            <a:r>
              <a:rPr lang="en-US" sz="1650">
                <a:solidFill>
                  <a:srgbClr val="5B6470"/>
                </a:solidFill>
                <a:latin typeface="Calibri"/>
                <a:ea typeface="Calibri"/>
                <a:cs typeface="Calibri"/>
              </a:rPr>
              <a:t>  data centers en électricité renouvelable.</a:t>
            </a:r>
            <a:endParaRPr lang="en-US" sz="1650"/>
          </a:p>
        </p:txBody>
      </p:sp>
      <p:sp>
        <p:nvSpPr>
          <p:cNvPr id="987256243" name="Shape 13"/>
          <p:cNvSpPr/>
          <p:nvPr/>
        </p:nvSpPr>
        <p:spPr bwMode="auto">
          <a:xfrm>
            <a:off x="777240" y="5436107"/>
            <a:ext cx="420624" cy="420624"/>
          </a:xfrm>
          <a:prstGeom prst="ellipse">
            <a:avLst/>
          </a:prstGeom>
          <a:solidFill>
            <a:srgbClr val="FCE9E9"/>
          </a:solidFill>
          <a:ln/>
        </p:spPr>
      </p:sp>
      <p:sp>
        <p:nvSpPr>
          <p:cNvPr id="1102085682" name="Text 14"/>
          <p:cNvSpPr/>
          <p:nvPr/>
        </p:nvSpPr>
        <p:spPr bwMode="auto">
          <a:xfrm>
            <a:off x="777240" y="5436107"/>
            <a:ext cx="420624" cy="420624"/>
          </a:xfrm>
          <a:prstGeom prst="rect">
            <a:avLst/>
          </a:prstGeom>
          <a:noFill/>
          <a:ln/>
        </p:spPr>
        <p:txBody>
          <a:bodyPr wrap="square" lIns="0" tIns="0" rIns="0" bIns="0" rtlCol="0" anchor="ctr"/>
          <a:lstStyle/>
          <a:p>
            <a:pPr marL="0" indent="0" algn="ctr">
              <a:buNone/>
              <a:defRPr/>
            </a:pPr>
            <a:r>
              <a:rPr lang="en-US" sz="1600" b="1">
                <a:solidFill>
                  <a:srgbClr val="EB0000"/>
                </a:solidFill>
                <a:latin typeface="Calibri"/>
                <a:ea typeface="Calibri"/>
                <a:cs typeface="Calibri"/>
              </a:rPr>
              <a:t>4</a:t>
            </a:r>
            <a:endParaRPr lang="en-US" sz="1600"/>
          </a:p>
        </p:txBody>
      </p:sp>
      <p:sp>
        <p:nvSpPr>
          <p:cNvPr id="1664859665" name="Text 15"/>
          <p:cNvSpPr/>
          <p:nvPr/>
        </p:nvSpPr>
        <p:spPr bwMode="auto">
          <a:xfrm>
            <a:off x="1417320" y="5262372"/>
            <a:ext cx="10058400" cy="768096"/>
          </a:xfrm>
          <a:prstGeom prst="rect">
            <a:avLst/>
          </a:prstGeom>
          <a:noFill/>
          <a:ln/>
        </p:spPr>
        <p:txBody>
          <a:bodyPr wrap="square" lIns="0" tIns="0" rIns="0" bIns="0" rtlCol="0" anchor="ctr"/>
          <a:lstStyle/>
          <a:p>
            <a:pPr marL="0" indent="0">
              <a:lnSpc>
                <a:spcPct val="102000"/>
              </a:lnSpc>
              <a:buNone/>
              <a:defRPr/>
            </a:pPr>
            <a:r>
              <a:rPr lang="en-US" sz="1650" b="1">
                <a:solidFill>
                  <a:srgbClr val="1F2328"/>
                </a:solidFill>
                <a:latin typeface="Calibri"/>
                <a:ea typeface="Calibri"/>
                <a:cs typeface="Calibri"/>
              </a:rPr>
              <a:t>Le numérique n'est pas immatériel :</a:t>
            </a:r>
            <a:r>
              <a:rPr lang="en-US" sz="1650">
                <a:solidFill>
                  <a:srgbClr val="5B6470"/>
                </a:solidFill>
                <a:latin typeface="Calibri"/>
                <a:ea typeface="Calibri"/>
                <a:cs typeface="Calibri"/>
              </a:rPr>
              <a:t>  mesurer et publier l'empreinte réelle (effet rebond).</a:t>
            </a:r>
            <a:endParaRPr lang="en-US" sz="16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A60510"/>
        </a:solidFill>
      </p:bgPr>
    </p:bg>
    <p:spTree>
      <p:nvGrpSpPr>
        <p:cNvPr id="1" name=""/>
        <p:cNvGrpSpPr/>
        <p:nvPr/>
      </p:nvGrpSpPr>
      <p:grpSpPr bwMode="auto">
        <a:xfrm>
          <a:off x="0" y="0"/>
          <a:ext cx="0" cy="0"/>
          <a:chOff x="0" y="0"/>
          <a:chExt cx="0" cy="0"/>
        </a:xfrm>
      </p:grpSpPr>
      <p:sp>
        <p:nvSpPr>
          <p:cNvPr id="1742881296" name=""/>
          <p:cNvSpPr/>
          <p:nvPr/>
        </p:nvSpPr>
        <p:spPr bwMode="auto">
          <a:xfrm rot="0" flipH="0" flipV="0">
            <a:off x="13774" y="-55375"/>
            <a:ext cx="12626161" cy="7066219"/>
          </a:xfrm>
          <a:prstGeom prst="rect">
            <a:avLst/>
          </a:prstGeom>
          <a:solidFill>
            <a:srgbClr val="752424"/>
          </a:solidFill>
          <a:ln w="12700" cap="flat" cmpd="sng" algn="ctr">
            <a:solidFill>
              <a:schemeClr val="accent1">
                <a:shade val="50000"/>
                <a:alpha val="99999"/>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01788063" name="Shape 0"/>
          <p:cNvSpPr/>
          <p:nvPr/>
        </p:nvSpPr>
        <p:spPr bwMode="auto">
          <a:xfrm>
            <a:off x="822960" y="1325880"/>
            <a:ext cx="822960" cy="822960"/>
          </a:xfrm>
          <a:prstGeom prst="ellipse">
            <a:avLst/>
          </a:prstGeom>
          <a:solidFill>
            <a:srgbClr val="FFFFFF">
              <a:alpha val="14000"/>
            </a:srgbClr>
          </a:solidFill>
          <a:ln/>
        </p:spPr>
      </p:sp>
      <p:pic>
        <p:nvPicPr>
          <p:cNvPr id="1049382470" name="Image 0" descr="preencoded.png"/>
          <p:cNvPicPr>
            <a:picLocks noChangeAspect="1"/>
          </p:cNvPicPr>
          <p:nvPr/>
        </p:nvPicPr>
        <p:blipFill rotWithShape="1">
          <a:blip r:embed="rId3"/>
          <a:stretch/>
        </p:blipFill>
        <p:spPr bwMode="auto">
          <a:xfrm>
            <a:off x="1024128" y="1527048"/>
            <a:ext cx="420624" cy="420624"/>
          </a:xfrm>
          <a:prstGeom prst="rect">
            <a:avLst/>
          </a:prstGeom>
        </p:spPr>
      </p:pic>
      <p:sp>
        <p:nvSpPr>
          <p:cNvPr id="2125038076" name="Text 1"/>
          <p:cNvSpPr/>
          <p:nvPr/>
        </p:nvSpPr>
        <p:spPr bwMode="auto">
          <a:xfrm>
            <a:off x="822960" y="2423160"/>
            <a:ext cx="10515600" cy="1828800"/>
          </a:xfrm>
          <a:prstGeom prst="rect">
            <a:avLst/>
          </a:prstGeom>
          <a:noFill/>
          <a:ln/>
        </p:spPr>
        <p:txBody>
          <a:bodyPr wrap="square" rtlCol="0" anchor="ctr"/>
          <a:lstStyle/>
          <a:p>
            <a:pPr marL="0" indent="0">
              <a:lnSpc>
                <a:spcPct val="108000"/>
              </a:lnSpc>
              <a:buNone/>
              <a:defRPr/>
            </a:pPr>
            <a:r>
              <a:rPr lang="en-US" sz="3000" b="1">
                <a:solidFill>
                  <a:srgbClr val="FFFFFF"/>
                </a:solidFill>
                <a:latin typeface="Calibri"/>
                <a:ea typeface="Calibri"/>
                <a:cs typeface="Calibri"/>
              </a:rPr>
              <a:t>Nos choix de conception ne sont jamais neutres : une décision technique est souvent une décision éthique déguisée.</a:t>
            </a:r>
            <a:endParaRPr lang="en-US" sz="3000"/>
          </a:p>
        </p:txBody>
      </p:sp>
      <p:sp>
        <p:nvSpPr>
          <p:cNvPr id="1845186275" name="Text 2"/>
          <p:cNvSpPr/>
          <p:nvPr/>
        </p:nvSpPr>
        <p:spPr bwMode="auto">
          <a:xfrm>
            <a:off x="841248" y="4434840"/>
            <a:ext cx="10241280" cy="914400"/>
          </a:xfrm>
          <a:prstGeom prst="rect">
            <a:avLst/>
          </a:prstGeom>
          <a:noFill/>
          <a:ln/>
        </p:spPr>
        <p:txBody>
          <a:bodyPr wrap="square" rtlCol="0" anchor="ctr"/>
          <a:lstStyle/>
          <a:p>
            <a:pPr marL="0" indent="0">
              <a:buNone/>
              <a:defRPr/>
            </a:pPr>
            <a:r>
              <a:rPr lang="en-US" sz="1800" i="1">
                <a:solidFill>
                  <a:srgbClr val="FFFFFF">
                    <a:alpha val="92000"/>
                  </a:srgbClr>
                </a:solidFill>
                <a:latin typeface="Calibri"/>
                <a:ea typeface="Calibri"/>
                <a:cs typeface="Calibri"/>
              </a:rPr>
              <a:t>Concevoir une mobilité numérique qui n'oublie personne — sobre, accessible et respectueuse de la vie privée.</a:t>
            </a:r>
            <a:endParaRPr lang="en-US" sz="1800"/>
          </a:p>
        </p:txBody>
      </p:sp>
      <p:sp>
        <p:nvSpPr>
          <p:cNvPr id="1028367654" name="Text 3"/>
          <p:cNvSpPr/>
          <p:nvPr/>
        </p:nvSpPr>
        <p:spPr bwMode="auto">
          <a:xfrm>
            <a:off x="841248" y="5806440"/>
            <a:ext cx="10241280" cy="548640"/>
          </a:xfrm>
          <a:prstGeom prst="rect">
            <a:avLst/>
          </a:prstGeom>
          <a:noFill/>
          <a:ln/>
        </p:spPr>
        <p:txBody>
          <a:bodyPr wrap="square" rtlCol="0" anchor="ctr"/>
          <a:lstStyle/>
          <a:p>
            <a:pPr marL="0" indent="0">
              <a:buNone/>
              <a:defRPr/>
            </a:pPr>
            <a:r>
              <a:rPr lang="en-US" sz="1600" b="1">
                <a:solidFill>
                  <a:srgbClr val="FFFFFF"/>
                </a:solidFill>
                <a:latin typeface="Calibri"/>
                <a:ea typeface="Calibri"/>
                <a:cs typeface="Calibri"/>
              </a:rPr>
              <a:t>Merci de votre attention.   </a:t>
            </a:r>
            <a:r>
              <a:rPr lang="en-US" sz="1600">
                <a:solidFill>
                  <a:srgbClr val="FFFFFF">
                    <a:alpha val="88000"/>
                  </a:srgbClr>
                </a:solidFill>
                <a:latin typeface="Calibri"/>
                <a:ea typeface="Calibri"/>
                <a:cs typeface="Calibri"/>
              </a:rPr>
              <a:t>Sofian · Arthur · Mirco</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8</Slides>
  <Notes>8</Notes>
  <HiddenSlides>0</HiddenSlides>
  <MMClips>2</MMClips>
  <ScaleCrop>0</ScaleCrop>
  <HeadingPairs>
    <vt:vector size="4" baseType="variant">
      <vt:variant>
        <vt:lpstr>Theme</vt:lpstr>
      </vt:variant>
      <vt:variant>
        <vt:i4>1</vt:i4>
      </vt:variant>
      <vt:variant>
        <vt:lpstr>Slide Titles</vt:lpstr>
      </vt:variant>
      <vt:variant>
        <vt:i4>8</vt:i4>
      </vt:variant>
    </vt:vector>
  </HeadingPairs>
  <TitlesOfParts>
    <vt:vector size="9" baseType="lpstr">
      <vt:lpstr>Theme 1</vt:lpstr>
      <vt:lpstr>Slide 1</vt:lpstr>
      <vt:lpstr>Slide 2</vt:lpstr>
      <vt:lpstr>Slide 3</vt:lpstr>
      <vt:lpstr>Slide 4</vt:lpstr>
      <vt:lpstr>Slide 5</vt:lpstr>
      <vt:lpstr>Slide 6</vt:lpstr>
      <vt:lpstr>Slide 7</vt:lpstr>
      <vt:lpstr>Slide 8</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Charte éthique CFF</dc:title>
  <dc:subject>PptxGenJS Presentation</dc:subject>
  <dc:creator>Sofian Ethenoz, Arthur Menétrey, Mirco Profico</dc:creator>
  <cp:lastModifiedBy/>
  <cp:revision>4</cp:revision>
  <dcterms:created xsi:type="dcterms:W3CDTF">2026-06-04T19:10:10Z</dcterms:created>
  <dcterms:modified xsi:type="dcterms:W3CDTF">2026-06-04T19:42:36Z</dcterms:modified>
</cp:coreProperties>
</file>