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82" autoAdjust="0"/>
    <p:restoredTop sz="94660"/>
  </p:normalViewPr>
  <p:slideViewPr>
    <p:cSldViewPr snapToGrid="0" snapToObjects="1">
      <p:cViewPr varScale="1">
        <p:scale>
          <a:sx n="119" d="100"/>
          <a:sy n="119" d="100"/>
        </p:scale>
        <p:origin x="96" y="264"/>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78395474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435542827"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6/5/2026</a:t>
            </a:fld>
            <a:endParaRPr lang="en-US"/>
          </a:p>
        </p:txBody>
      </p:sp>
      <p:sp>
        <p:nvSpPr>
          <p:cNvPr id="1678268221"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884828954"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06227115"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31856144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‹N°›</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31788532" name="Slide Image Placeholder 1"/>
          <p:cNvSpPr>
            <a:spLocks noGrp="1" noRot="1" noChangeAspect="1"/>
          </p:cNvSpPr>
          <p:nvPr>
            <p:ph type="sldImg"/>
          </p:nvPr>
        </p:nvSpPr>
        <p:spPr bwMode="auto"/>
      </p:sp>
      <p:sp>
        <p:nvSpPr>
          <p:cNvPr id="318160481" name="Notes Placeholder 2"/>
          <p:cNvSpPr>
            <a:spLocks noGrp="1"/>
          </p:cNvSpPr>
          <p:nvPr>
            <p:ph type="body" idx="1"/>
          </p:nvPr>
        </p:nvSpPr>
        <p:spPr bwMode="auto"/>
        <p:txBody>
          <a:bodyPr/>
          <a:lstStyle/>
          <a:p>
            <a:pPr>
              <a:defRPr/>
            </a:pPr>
            <a:r>
              <a:rPr lang="en-US"/>
              <a:t>Ouverture (ensemble, ou Sofian) : « Nous présentons notre charte éthique sur la numérisation des titres de transport aux CFF. Elle se divise en trois parties : l'accès et l'autonomie, l'IA et les données, puis la durabilité numérique. »</a:t>
            </a:r>
          </a:p>
        </p:txBody>
      </p:sp>
      <p:sp>
        <p:nvSpPr>
          <p:cNvPr id="802837895"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7469509" name="Slide Image Placeholder 1"/>
          <p:cNvSpPr>
            <a:spLocks noGrp="1" noRot="1" noChangeAspect="1"/>
          </p:cNvSpPr>
          <p:nvPr>
            <p:ph type="sldImg"/>
          </p:nvPr>
        </p:nvSpPr>
        <p:spPr bwMode="auto"/>
      </p:sp>
      <p:sp>
        <p:nvSpPr>
          <p:cNvPr id="1815233325" name="Notes Placeholder 2"/>
          <p:cNvSpPr>
            <a:spLocks noGrp="1"/>
          </p:cNvSpPr>
          <p:nvPr>
            <p:ph type="body" idx="1"/>
          </p:nvPr>
        </p:nvSpPr>
        <p:spPr bwMode="auto"/>
        <p:txBody>
          <a:bodyPr/>
          <a:lstStyle/>
          <a:p>
            <a:pPr>
              <a:defRPr/>
            </a:pPr>
            <a:r>
              <a:rPr lang="en-US"/>
              <a:t>Sofian : présente brièvement les CFF (1,3 M de voyageurs/jour, service public), les technologies numériques des titres, et surtout les personnes vulnérables. Conclut sur la tension : faciliter pour le plus grand nombre peut exclure les plus dépendants. C'est le point de départ de la charte.</a:t>
            </a:r>
          </a:p>
        </p:txBody>
      </p:sp>
      <p:sp>
        <p:nvSpPr>
          <p:cNvPr id="2139767548"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32973118" name="Slide Image Placeholder 1"/>
          <p:cNvSpPr>
            <a:spLocks noGrp="1" noRot="1" noChangeAspect="1"/>
          </p:cNvSpPr>
          <p:nvPr>
            <p:ph type="sldImg"/>
          </p:nvPr>
        </p:nvSpPr>
        <p:spPr bwMode="auto"/>
      </p:sp>
      <p:sp>
        <p:nvSpPr>
          <p:cNvPr id="1457919392" name="Notes Placeholder 2"/>
          <p:cNvSpPr>
            <a:spLocks noGrp="1"/>
          </p:cNvSpPr>
          <p:nvPr>
            <p:ph type="body" idx="1"/>
          </p:nvPr>
        </p:nvSpPr>
        <p:spPr bwMode="auto"/>
        <p:txBody>
          <a:bodyPr/>
          <a:lstStyle/>
          <a:p>
            <a:pPr>
              <a:defRPr/>
            </a:pPr>
            <a:r>
              <a:rPr lang="en-US"/>
              <a:t>Sofian : nos premiers engagements. Le numérique est une option, pas une obligation : on garde toujours un guichet ou un billet papier, et renoncer au numérique ne doit jamais coûter plus cher. Les interfaces sont accessibles dès la conception, et personne n'est traité comme un citoyen de seconde classe.</a:t>
            </a:r>
          </a:p>
        </p:txBody>
      </p:sp>
      <p:sp>
        <p:nvSpPr>
          <p:cNvPr id="1043389316"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0573878" name="Slide Image Placeholder 1"/>
          <p:cNvSpPr>
            <a:spLocks noGrp="1" noRot="1" noChangeAspect="1"/>
          </p:cNvSpPr>
          <p:nvPr>
            <p:ph type="sldImg"/>
          </p:nvPr>
        </p:nvSpPr>
        <p:spPr bwMode="auto"/>
      </p:sp>
      <p:sp>
        <p:nvSpPr>
          <p:cNvPr id="863783575" name="Notes Placeholder 2"/>
          <p:cNvSpPr>
            <a:spLocks noGrp="1"/>
          </p:cNvSpPr>
          <p:nvPr>
            <p:ph type="body" idx="1"/>
          </p:nvPr>
        </p:nvSpPr>
        <p:spPr bwMode="auto"/>
        <p:txBody>
          <a:bodyPr/>
          <a:lstStyle/>
          <a:p>
            <a:pPr>
              <a:defRPr/>
            </a:pPr>
            <a:r>
              <a:rPr lang="en-US"/>
              <a:t>Arthur : sur l'IA (prix EasyRide, fraude, prévision d'affluence), nous posons quatre garde-fous : transparence, contrôle humain pour toute décision à conséquences, audit des biais, et non-substitution du jugement humain. L'algorithme aide, mais ne tranche jamais seul une amende ou un blocage.</a:t>
            </a:r>
          </a:p>
        </p:txBody>
      </p:sp>
      <p:sp>
        <p:nvSpPr>
          <p:cNvPr id="1752484159"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84781065" name="Slide Image Placeholder 1"/>
          <p:cNvSpPr>
            <a:spLocks noGrp="1" noRot="1" noChangeAspect="1"/>
          </p:cNvSpPr>
          <p:nvPr>
            <p:ph type="sldImg"/>
          </p:nvPr>
        </p:nvSpPr>
        <p:spPr bwMode="auto"/>
      </p:sp>
      <p:sp>
        <p:nvSpPr>
          <p:cNvPr id="1400159044" name="Notes Placeholder 2"/>
          <p:cNvSpPr>
            <a:spLocks noGrp="1"/>
          </p:cNvSpPr>
          <p:nvPr>
            <p:ph type="body" idx="1"/>
          </p:nvPr>
        </p:nvSpPr>
        <p:spPr bwMode="auto"/>
        <p:txBody>
          <a:bodyPr/>
          <a:lstStyle/>
          <a:p>
            <a:pPr>
              <a:defRPr/>
            </a:pPr>
            <a:r>
              <a:rPr lang="en-US"/>
              <a:t>Arthur : dans un service public, la confiance est essentielle. Nous minimisons les données, les hébergeons en Suisse, refusons toute revente publicitaire et tout historique permanent des trajets. Et nous refusons la biométrie obligatoire : on doit pouvoir se déplacer sans être identifié ni tracé.</a:t>
            </a:r>
          </a:p>
        </p:txBody>
      </p:sp>
      <p:sp>
        <p:nvSpPr>
          <p:cNvPr id="56153787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55796939" name="Slide Image Placeholder 1"/>
          <p:cNvSpPr>
            <a:spLocks noGrp="1" noRot="1" noChangeAspect="1"/>
          </p:cNvSpPr>
          <p:nvPr>
            <p:ph type="sldImg"/>
          </p:nvPr>
        </p:nvSpPr>
        <p:spPr bwMode="auto"/>
      </p:sp>
      <p:sp>
        <p:nvSpPr>
          <p:cNvPr id="757436026" name="Notes Placeholder 2"/>
          <p:cNvSpPr>
            <a:spLocks noGrp="1"/>
          </p:cNvSpPr>
          <p:nvPr>
            <p:ph type="body" idx="1"/>
          </p:nvPr>
        </p:nvSpPr>
        <p:spPr bwMode="auto"/>
        <p:txBody>
          <a:bodyPr/>
          <a:lstStyle/>
          <a:p>
            <a:pPr>
              <a:defRPr/>
            </a:pPr>
            <a:r>
              <a:rPr lang="en-US"/>
              <a:t>Mirco : la bonne hybridation met la technologie au service de l'humain. Elle augmente les capacités du voyageur et libère le personnel des tâches répétitives pour le recentrer sur la relation. Garder une présence humaine en gare est un choix assumé, pas une dépense à éliminer.</a:t>
            </a:r>
          </a:p>
        </p:txBody>
      </p:sp>
      <p:sp>
        <p:nvSpPr>
          <p:cNvPr id="650215323"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28770892" name="Slide Image Placeholder 1"/>
          <p:cNvSpPr>
            <a:spLocks noGrp="1" noRot="1" noChangeAspect="1"/>
          </p:cNvSpPr>
          <p:nvPr>
            <p:ph type="sldImg"/>
          </p:nvPr>
        </p:nvSpPr>
        <p:spPr bwMode="auto"/>
      </p:sp>
      <p:sp>
        <p:nvSpPr>
          <p:cNvPr id="1453882028" name="Notes Placeholder 2"/>
          <p:cNvSpPr>
            <a:spLocks noGrp="1"/>
          </p:cNvSpPr>
          <p:nvPr>
            <p:ph type="body" idx="1"/>
          </p:nvPr>
        </p:nvSpPr>
        <p:spPr bwMode="auto"/>
        <p:txBody>
          <a:bodyPr/>
          <a:lstStyle/>
          <a:p>
            <a:pPr>
              <a:defRPr/>
            </a:pPr>
            <a:r>
              <a:rPr lang="en-US"/>
              <a:t>Mirco : la durabilité ne se résume pas à supprimer le papier. Nous visons la sobriété : ne numériser que l'utile, des applications légères qui fonctionnent sur du matériel ancien, des supports durables comme le SwissPass, et une énergie renouvelable. Surtout, nous mesurons et publions l'empreinte réelle, car le numérique n'est pas immatériel.</a:t>
            </a:r>
          </a:p>
        </p:txBody>
      </p:sp>
      <p:sp>
        <p:nvSpPr>
          <p:cNvPr id="377071852"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71790778" name="Slide Image Placeholder 1"/>
          <p:cNvSpPr>
            <a:spLocks noGrp="1" noRot="1" noChangeAspect="1"/>
          </p:cNvSpPr>
          <p:nvPr>
            <p:ph type="sldImg"/>
          </p:nvPr>
        </p:nvSpPr>
        <p:spPr bwMode="auto"/>
      </p:sp>
      <p:sp>
        <p:nvSpPr>
          <p:cNvPr id="731563547" name="Notes Placeholder 2"/>
          <p:cNvSpPr>
            <a:spLocks noGrp="1"/>
          </p:cNvSpPr>
          <p:nvPr>
            <p:ph type="body" idx="1"/>
          </p:nvPr>
        </p:nvSpPr>
        <p:spPr bwMode="auto"/>
        <p:txBody>
          <a:bodyPr/>
          <a:lstStyle/>
          <a:p>
            <a:pPr>
              <a:defRPr/>
            </a:pPr>
            <a:r>
              <a:rPr lang="en-US"/>
              <a:t>Conclusion (ensemble, ou Mirco) : nos choix techniques sont des choix éthiques. Notre objectif : une mobilité numérique qui n'oublie personne, sobre et respectueuse de la vie privée. Remerciements.</a:t>
            </a:r>
          </a:p>
        </p:txBody>
      </p:sp>
      <p:sp>
        <p:nvSpPr>
          <p:cNvPr id="1654528324"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name="Slide 1">
    <p:bg>
      <p:bgPr>
        <a:solidFill>
          <a:srgbClr val="EB0000"/>
        </a:solidFill>
        <a:effectLst/>
      </p:bgPr>
    </p:bg>
    <p:spTree>
      <p:nvGrpSpPr>
        <p:cNvPr id="1" name=""/>
        <p:cNvGrpSpPr/>
        <p:nvPr/>
      </p:nvGrpSpPr>
      <p:grpSpPr bwMode="auto">
        <a:xfrm>
          <a:off x="0" y="0"/>
          <a:ext cx="0" cy="0"/>
          <a:chOff x="0" y="0"/>
          <a:chExt cx="0" cy="0"/>
        </a:xfrm>
      </p:grpSpPr>
      <p:sp>
        <p:nvSpPr>
          <p:cNvPr id="1051118313" name="Rectangle 1051118312"/>
          <p:cNvSpPr/>
          <p:nvPr/>
        </p:nvSpPr>
        <p:spPr bwMode="auto">
          <a:xfrm>
            <a:off x="-120695" y="-55376"/>
            <a:ext cx="12626162" cy="7066220"/>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fr-CH"/>
          </a:p>
        </p:txBody>
      </p:sp>
      <p:sp>
        <p:nvSpPr>
          <p:cNvPr id="1152734535" name="Text 0"/>
          <p:cNvSpPr/>
          <p:nvPr/>
        </p:nvSpPr>
        <p:spPr bwMode="auto">
          <a:xfrm>
            <a:off x="822960" y="1874520"/>
            <a:ext cx="11430000" cy="457200"/>
          </a:xfrm>
          <a:prstGeom prst="rect">
            <a:avLst/>
          </a:prstGeom>
          <a:noFill/>
          <a:ln/>
        </p:spPr>
        <p:txBody>
          <a:bodyPr wrap="square" rtlCol="0" anchor="ctr"/>
          <a:lstStyle/>
          <a:p>
            <a:pPr marL="0" indent="0">
              <a:buNone/>
              <a:defRPr/>
            </a:pPr>
            <a:r>
              <a:rPr lang="en-US" sz="1400" b="1">
                <a:solidFill>
                  <a:srgbClr val="FFFFFF">
                    <a:alpha val="92000"/>
                  </a:srgbClr>
                </a:solidFill>
                <a:latin typeface="Calibri"/>
                <a:ea typeface="Calibri"/>
                <a:cs typeface="Calibri"/>
              </a:rPr>
              <a:t>CHARTE ÉTHIQUE  &amp;  DURABILITÉ NUMÉRIQUE</a:t>
            </a:r>
            <a:endParaRPr lang="en-US" sz="1400"/>
          </a:p>
        </p:txBody>
      </p:sp>
      <p:sp>
        <p:nvSpPr>
          <p:cNvPr id="1568357264" name="Text 1"/>
          <p:cNvSpPr/>
          <p:nvPr/>
        </p:nvSpPr>
        <p:spPr bwMode="auto">
          <a:xfrm>
            <a:off x="804672" y="2286000"/>
            <a:ext cx="10515600" cy="1554480"/>
          </a:xfrm>
          <a:prstGeom prst="rect">
            <a:avLst/>
          </a:prstGeom>
          <a:noFill/>
          <a:ln/>
        </p:spPr>
        <p:txBody>
          <a:bodyPr wrap="square" rtlCol="0" anchor="ctr"/>
          <a:lstStyle/>
          <a:p>
            <a:pPr marL="0" indent="0">
              <a:lnSpc>
                <a:spcPct val="100000"/>
              </a:lnSpc>
              <a:buNone/>
              <a:defRPr/>
            </a:pPr>
            <a:r>
              <a:rPr lang="en-US" sz="4600" b="1">
                <a:solidFill>
                  <a:srgbClr val="FFFFFF"/>
                </a:solidFill>
                <a:latin typeface="Calibri"/>
                <a:ea typeface="Calibri"/>
                <a:cs typeface="Calibri"/>
              </a:rPr>
              <a:t>La numérisation des titres</a:t>
            </a:r>
            <a:endParaRPr lang="en-US" sz="4600"/>
          </a:p>
          <a:p>
            <a:pPr marL="0" indent="0">
              <a:lnSpc>
                <a:spcPct val="100000"/>
              </a:lnSpc>
              <a:buNone/>
              <a:defRPr/>
            </a:pPr>
            <a:r>
              <a:rPr lang="en-US" sz="4600" b="1">
                <a:solidFill>
                  <a:srgbClr val="FFFFFF"/>
                </a:solidFill>
                <a:latin typeface="Calibri"/>
                <a:ea typeface="Calibri"/>
                <a:cs typeface="Calibri"/>
              </a:rPr>
              <a:t>de transport aux CFF</a:t>
            </a:r>
            <a:endParaRPr lang="en-US" sz="4600"/>
          </a:p>
        </p:txBody>
      </p:sp>
      <p:sp>
        <p:nvSpPr>
          <p:cNvPr id="1635080004" name="Text 2"/>
          <p:cNvSpPr/>
          <p:nvPr/>
        </p:nvSpPr>
        <p:spPr bwMode="auto">
          <a:xfrm>
            <a:off x="822960" y="3886200"/>
            <a:ext cx="10058400" cy="548640"/>
          </a:xfrm>
          <a:prstGeom prst="rect">
            <a:avLst/>
          </a:prstGeom>
          <a:noFill/>
          <a:ln/>
        </p:spPr>
        <p:txBody>
          <a:bodyPr wrap="square" rtlCol="0" anchor="ctr"/>
          <a:lstStyle/>
          <a:p>
            <a:pPr marL="0" indent="0">
              <a:buNone/>
              <a:defRPr/>
            </a:pPr>
            <a:r>
              <a:rPr lang="en-US" sz="2000" i="1">
                <a:solidFill>
                  <a:srgbClr val="FFFFFF">
                    <a:alpha val="94000"/>
                  </a:srgbClr>
                </a:solidFill>
                <a:latin typeface="Calibri"/>
                <a:ea typeface="Calibri"/>
                <a:cs typeface="Calibri"/>
              </a:rPr>
              <a:t>Présentation de notre charte</a:t>
            </a:r>
            <a:endParaRPr lang="en-US" sz="2000"/>
          </a:p>
        </p:txBody>
      </p:sp>
      <p:sp>
        <p:nvSpPr>
          <p:cNvPr id="1973767627" name="Text 3"/>
          <p:cNvSpPr/>
          <p:nvPr/>
        </p:nvSpPr>
        <p:spPr bwMode="auto">
          <a:xfrm>
            <a:off x="822960" y="5440680"/>
            <a:ext cx="10058400" cy="914400"/>
          </a:xfrm>
          <a:prstGeom prst="rect">
            <a:avLst/>
          </a:prstGeom>
          <a:noFill/>
          <a:ln/>
        </p:spPr>
        <p:txBody>
          <a:bodyPr wrap="square" rtlCol="0" anchor="ctr"/>
          <a:lstStyle/>
          <a:p>
            <a:pPr marL="0" indent="0">
              <a:lnSpc>
                <a:spcPct val="130000"/>
              </a:lnSpc>
              <a:buNone/>
              <a:defRPr/>
            </a:pPr>
            <a:r>
              <a:rPr lang="en-US" sz="1500">
                <a:solidFill>
                  <a:srgbClr val="FFFFFF">
                    <a:alpha val="88000"/>
                  </a:srgbClr>
                </a:solidFill>
                <a:latin typeface="Calibri"/>
                <a:ea typeface="Calibri"/>
                <a:cs typeface="Calibri"/>
              </a:rPr>
              <a:t>Cours Éthique et durabilité · HEIG-VD</a:t>
            </a:r>
            <a:endParaRPr lang="en-US" sz="1500"/>
          </a:p>
          <a:p>
            <a:pPr marL="0" indent="0">
              <a:lnSpc>
                <a:spcPct val="130000"/>
              </a:lnSpc>
              <a:buNone/>
              <a:defRPr/>
            </a:pPr>
            <a:r>
              <a:rPr lang="en-US" sz="1500" b="1">
                <a:solidFill>
                  <a:srgbClr val="FFFFFF"/>
                </a:solidFill>
                <a:latin typeface="Calibri"/>
                <a:ea typeface="Calibri"/>
                <a:cs typeface="Calibri"/>
              </a:rPr>
              <a:t>Sofian Ethenoz   ·   Arthur Menétrey   ·   Mirco Profico</a:t>
            </a:r>
            <a:endParaRPr lang="en-US" sz="15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name="Slide 2">
    <p:bg>
      <p:bgPr>
        <a:solidFill>
          <a:srgbClr val="FFFFFF"/>
        </a:solidFill>
        <a:effectLst/>
      </p:bgPr>
    </p:bg>
    <p:spTree>
      <p:nvGrpSpPr>
        <p:cNvPr id="1" name=""/>
        <p:cNvGrpSpPr/>
        <p:nvPr/>
      </p:nvGrpSpPr>
      <p:grpSpPr bwMode="auto">
        <a:xfrm>
          <a:off x="0" y="0"/>
          <a:ext cx="0" cy="0"/>
          <a:chOff x="0" y="0"/>
          <a:chExt cx="0" cy="0"/>
        </a:xfrm>
      </p:grpSpPr>
      <p:sp>
        <p:nvSpPr>
          <p:cNvPr id="1517213371"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889643193"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172505790"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Les CFF, leurs technologies et leurs bénéficiaires</a:t>
            </a:r>
            <a:endParaRPr lang="en-US" sz="2800"/>
          </a:p>
        </p:txBody>
      </p:sp>
      <p:sp>
        <p:nvSpPr>
          <p:cNvPr id="347829133"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168410293"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INTRO · SOFIAN</a:t>
            </a:r>
            <a:endParaRPr lang="en-US" sz="1150"/>
          </a:p>
        </p:txBody>
      </p:sp>
      <p:sp>
        <p:nvSpPr>
          <p:cNvPr id="832989967" name="Shape 4"/>
          <p:cNvSpPr/>
          <p:nvPr/>
        </p:nvSpPr>
        <p:spPr bwMode="auto">
          <a:xfrm>
            <a:off x="640080" y="1691640"/>
            <a:ext cx="5349240" cy="2926080"/>
          </a:xfrm>
          <a:prstGeom prst="roundRect">
            <a:avLst>
              <a:gd name="adj" fmla="val 3125"/>
            </a:avLst>
          </a:prstGeom>
          <a:solidFill>
            <a:srgbClr val="F5F6F7"/>
          </a:solidFill>
          <a:ln/>
          <a:effectLst>
            <a:outerShdw blurRad="88900" dist="38100" dir="8100000" algn="bl" rotWithShape="0">
              <a:srgbClr val="000000">
                <a:alpha val="10000"/>
              </a:srgbClr>
            </a:outerShdw>
          </a:effectLst>
        </p:spPr>
        <p:txBody>
          <a:bodyPr/>
          <a:lstStyle/>
          <a:p>
            <a:endParaRPr lang="fr-CH"/>
          </a:p>
        </p:txBody>
      </p:sp>
      <p:sp>
        <p:nvSpPr>
          <p:cNvPr id="874962085" name="Text 5"/>
          <p:cNvSpPr/>
          <p:nvPr/>
        </p:nvSpPr>
        <p:spPr bwMode="auto">
          <a:xfrm>
            <a:off x="914400"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Des titres de transport numérisés</a:t>
            </a:r>
            <a:endParaRPr lang="en-US" sz="1700"/>
          </a:p>
        </p:txBody>
      </p:sp>
      <p:sp>
        <p:nvSpPr>
          <p:cNvPr id="1264408145" name="Text 6"/>
          <p:cNvSpPr/>
          <p:nvPr/>
        </p:nvSpPr>
        <p:spPr bwMode="auto">
          <a:xfrm>
            <a:off x="914400" y="2377440"/>
            <a:ext cx="4846320" cy="2103120"/>
          </a:xfrm>
          <a:prstGeom prst="rect">
            <a:avLst/>
          </a:prstGeom>
          <a:noFill/>
          <a:ln/>
        </p:spPr>
        <p:txBody>
          <a:bodyPr wrap="square" lIns="0" tIns="0" rIns="0" bIns="0" rtlCol="0" anchor="ctr"/>
          <a:lstStyle/>
          <a:p>
            <a:pPr marL="342900" indent="-342900">
              <a:spcAft>
                <a:spcPts val="700"/>
              </a:spcAft>
              <a:buSzPct val="100000"/>
              <a:buChar char="•"/>
              <a:defRPr/>
            </a:pPr>
            <a:r>
              <a:rPr lang="en-US" sz="1550" b="1">
                <a:solidFill>
                  <a:srgbClr val="1F2328"/>
                </a:solidFill>
                <a:latin typeface="Calibri"/>
                <a:ea typeface="Calibri"/>
                <a:cs typeface="Calibri"/>
              </a:rPr>
              <a:t>Application Mobile CFF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SwissPass - carte à puce (AG, demi-tarif…)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EasyRide - « check-in / check-out »</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Automates et vente en ligne</a:t>
            </a:r>
            <a:endParaRPr lang="en-US" sz="1550"/>
          </a:p>
        </p:txBody>
      </p:sp>
      <p:sp>
        <p:nvSpPr>
          <p:cNvPr id="164252154" name="Shape 7"/>
          <p:cNvSpPr/>
          <p:nvPr/>
        </p:nvSpPr>
        <p:spPr bwMode="auto">
          <a:xfrm>
            <a:off x="6199632" y="1691640"/>
            <a:ext cx="5349240" cy="2926080"/>
          </a:xfrm>
          <a:prstGeom prst="roundRect">
            <a:avLst>
              <a:gd name="adj" fmla="val 3125"/>
            </a:avLst>
          </a:prstGeom>
          <a:solidFill>
            <a:srgbClr val="F5F6F7"/>
          </a:solidFill>
          <a:ln/>
          <a:effectLst>
            <a:outerShdw blurRad="88900" dist="38100" dir="8100000" algn="bl" rotWithShape="0">
              <a:srgbClr val="000000">
                <a:alpha val="10000"/>
              </a:srgbClr>
            </a:outerShdw>
          </a:effectLst>
        </p:spPr>
        <p:txBody>
          <a:bodyPr/>
          <a:lstStyle/>
          <a:p>
            <a:endParaRPr lang="fr-CH"/>
          </a:p>
        </p:txBody>
      </p:sp>
      <p:sp>
        <p:nvSpPr>
          <p:cNvPr id="992690019" name="Text 8"/>
          <p:cNvSpPr/>
          <p:nvPr/>
        </p:nvSpPr>
        <p:spPr bwMode="auto">
          <a:xfrm>
            <a:off x="6473952"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Un service public : servir tout le monde</a:t>
            </a:r>
            <a:endParaRPr lang="en-US" sz="1700"/>
          </a:p>
        </p:txBody>
      </p:sp>
      <p:sp>
        <p:nvSpPr>
          <p:cNvPr id="1075545165" name="Text 9"/>
          <p:cNvSpPr/>
          <p:nvPr/>
        </p:nvSpPr>
        <p:spPr bwMode="auto">
          <a:xfrm>
            <a:off x="6473952" y="2377440"/>
            <a:ext cx="4846320" cy="2103120"/>
          </a:xfrm>
          <a:prstGeom prst="rect">
            <a:avLst/>
          </a:prstGeom>
          <a:noFill/>
          <a:ln/>
        </p:spPr>
        <p:txBody>
          <a:bodyPr wrap="square" lIns="0" tIns="0" rIns="0" bIns="0" rtlCol="0" anchor="ctr"/>
          <a:lstStyle/>
          <a:p>
            <a:pPr marL="342900" indent="-342900">
              <a:spcAft>
                <a:spcPts val="500"/>
              </a:spcAft>
              <a:buSzPct val="100000"/>
              <a:buChar char="•"/>
              <a:defRPr/>
            </a:pPr>
            <a:r>
              <a:rPr lang="en-US" sz="1550">
                <a:solidFill>
                  <a:srgbClr val="1F2328"/>
                </a:solidFill>
                <a:latin typeface="Calibri"/>
                <a:ea typeface="Calibri"/>
                <a:cs typeface="Calibri"/>
              </a:rPr>
              <a:t>Personnes âgées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Personnes en situation de handicap</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Faibles revenus / sans smartphone</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Jeunes et mineurs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Touristes, non-francophones</a:t>
            </a:r>
            <a:endParaRPr lang="en-US" sz="1550"/>
          </a:p>
        </p:txBody>
      </p:sp>
      <p:sp>
        <p:nvSpPr>
          <p:cNvPr id="145017372" name="Shape 10"/>
          <p:cNvSpPr/>
          <p:nvPr/>
        </p:nvSpPr>
        <p:spPr bwMode="auto">
          <a:xfrm>
            <a:off x="640080" y="4983480"/>
            <a:ext cx="10908792" cy="1143000"/>
          </a:xfrm>
          <a:prstGeom prst="roundRect">
            <a:avLst>
              <a:gd name="adj" fmla="val 8000"/>
            </a:avLst>
          </a:prstGeom>
          <a:solidFill>
            <a:srgbClr val="FCE9E9"/>
          </a:solidFill>
          <a:ln/>
        </p:spPr>
        <p:txBody>
          <a:bodyPr/>
          <a:lstStyle/>
          <a:p>
            <a:endParaRPr lang="fr-CH"/>
          </a:p>
        </p:txBody>
      </p:sp>
      <p:sp>
        <p:nvSpPr>
          <p:cNvPr id="479700784" name="Text 11"/>
          <p:cNvSpPr/>
          <p:nvPr/>
        </p:nvSpPr>
        <p:spPr bwMode="auto">
          <a:xfrm>
            <a:off x="960120" y="4983480"/>
            <a:ext cx="10241280" cy="1143000"/>
          </a:xfrm>
          <a:prstGeom prst="rect">
            <a:avLst/>
          </a:prstGeom>
          <a:noFill/>
          <a:ln/>
        </p:spPr>
        <p:txBody>
          <a:bodyPr wrap="square" lIns="0" tIns="0" rIns="0" bIns="0" rtlCol="0" anchor="ctr"/>
          <a:lstStyle/>
          <a:p>
            <a:pPr marL="0" indent="0">
              <a:buNone/>
              <a:defRPr/>
            </a:pPr>
            <a:r>
              <a:rPr lang="en-US" sz="1650" b="1">
                <a:solidFill>
                  <a:srgbClr val="A60510"/>
                </a:solidFill>
                <a:latin typeface="Calibri"/>
                <a:ea typeface="Calibri"/>
                <a:cs typeface="Calibri"/>
              </a:rPr>
              <a:t>La tension éthique : </a:t>
            </a:r>
            <a:r>
              <a:rPr lang="en-US" sz="1650">
                <a:solidFill>
                  <a:srgbClr val="1F2328"/>
                </a:solidFill>
                <a:latin typeface="Calibri"/>
                <a:ea typeface="Calibri"/>
                <a:cs typeface="Calibri"/>
              </a:rPr>
              <a:t>un outil pensé pour tous peut exclure précisément ceux qui dépendent le plus du service public. C'est là-dessus que porte notre charte.</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name="Slide 3">
    <p:bg>
      <p:bgPr>
        <a:solidFill>
          <a:srgbClr val="FFFFFF"/>
        </a:solidFill>
        <a:effectLst/>
      </p:bgPr>
    </p:bg>
    <p:spTree>
      <p:nvGrpSpPr>
        <p:cNvPr id="1" name=""/>
        <p:cNvGrpSpPr/>
        <p:nvPr/>
      </p:nvGrpSpPr>
      <p:grpSpPr bwMode="auto">
        <a:xfrm>
          <a:off x="0" y="0"/>
          <a:ext cx="0" cy="0"/>
          <a:chOff x="0" y="0"/>
          <a:chExt cx="0" cy="0"/>
        </a:xfrm>
      </p:grpSpPr>
      <p:sp>
        <p:nvSpPr>
          <p:cNvPr id="1670343850"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97841505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301209276"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Accès &amp; autonomie : la mobilité, un droit</a:t>
            </a:r>
            <a:endParaRPr lang="en-US" sz="2800"/>
          </a:p>
        </p:txBody>
      </p:sp>
      <p:sp>
        <p:nvSpPr>
          <p:cNvPr id="389629691"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961414058"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1 · SOFIAN</a:t>
            </a:r>
            <a:endParaRPr lang="en-US" sz="1150"/>
          </a:p>
        </p:txBody>
      </p:sp>
      <p:sp>
        <p:nvSpPr>
          <p:cNvPr id="1609382519" name="Shape 4"/>
          <p:cNvSpPr/>
          <p:nvPr/>
        </p:nvSpPr>
        <p:spPr bwMode="auto">
          <a:xfrm>
            <a:off x="777240" y="2807208"/>
            <a:ext cx="420624" cy="420624"/>
          </a:xfrm>
          <a:prstGeom prst="ellipse">
            <a:avLst/>
          </a:prstGeom>
          <a:solidFill>
            <a:srgbClr val="FCE9E9"/>
          </a:solidFill>
          <a:ln/>
        </p:spPr>
        <p:txBody>
          <a:bodyPr/>
          <a:lstStyle/>
          <a:p>
            <a:endParaRPr lang="fr-CH"/>
          </a:p>
        </p:txBody>
      </p:sp>
      <p:sp>
        <p:nvSpPr>
          <p:cNvPr id="1317711620"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157984363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mobilité reste un droit,</a:t>
            </a:r>
            <a:r>
              <a:rPr lang="en-US" sz="1650">
                <a:solidFill>
                  <a:srgbClr val="5B6470"/>
                </a:solidFill>
                <a:latin typeface="Calibri"/>
                <a:ea typeface="Calibri"/>
                <a:cs typeface="Calibri"/>
              </a:rPr>
              <a:t>  jamais un privilège réservé aux personnes « connectées ».</a:t>
            </a:r>
            <a:endParaRPr lang="en-US" sz="1650"/>
          </a:p>
        </p:txBody>
      </p:sp>
      <p:sp>
        <p:nvSpPr>
          <p:cNvPr id="203439483" name="Shape 7"/>
          <p:cNvSpPr/>
          <p:nvPr/>
        </p:nvSpPr>
        <p:spPr bwMode="auto">
          <a:xfrm>
            <a:off x="777240" y="3858768"/>
            <a:ext cx="420624" cy="420624"/>
          </a:xfrm>
          <a:prstGeom prst="ellipse">
            <a:avLst/>
          </a:prstGeom>
          <a:solidFill>
            <a:srgbClr val="FCE9E9"/>
          </a:solidFill>
          <a:ln/>
        </p:spPr>
        <p:txBody>
          <a:bodyPr/>
          <a:lstStyle/>
          <a:p>
            <a:endParaRPr lang="fr-CH"/>
          </a:p>
        </p:txBody>
      </p:sp>
      <p:sp>
        <p:nvSpPr>
          <p:cNvPr id="1644868584"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80583005"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Toujours une alternative non numérique</a:t>
            </a:r>
            <a:r>
              <a:rPr lang="en-US" sz="1650">
                <a:solidFill>
                  <a:srgbClr val="5B6470"/>
                </a:solidFill>
                <a:latin typeface="Calibri"/>
                <a:ea typeface="Calibri"/>
                <a:cs typeface="Calibri"/>
              </a:rPr>
              <a:t>  (guichet, automate simple, billet papier) - et sans surcoût.</a:t>
            </a:r>
            <a:endParaRPr lang="en-US" sz="1650"/>
          </a:p>
        </p:txBody>
      </p:sp>
      <p:sp>
        <p:nvSpPr>
          <p:cNvPr id="1018802614" name="Shape 10"/>
          <p:cNvSpPr/>
          <p:nvPr/>
        </p:nvSpPr>
        <p:spPr bwMode="auto">
          <a:xfrm>
            <a:off x="777240" y="4910328"/>
            <a:ext cx="420624" cy="420624"/>
          </a:xfrm>
          <a:prstGeom prst="ellipse">
            <a:avLst/>
          </a:prstGeom>
          <a:solidFill>
            <a:srgbClr val="FCE9E9"/>
          </a:solidFill>
          <a:ln/>
        </p:spPr>
        <p:txBody>
          <a:bodyPr/>
          <a:lstStyle/>
          <a:p>
            <a:endParaRPr lang="fr-CH"/>
          </a:p>
        </p:txBody>
      </p:sp>
      <p:sp>
        <p:nvSpPr>
          <p:cNvPr id="836565714"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823306765"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Accessibilité &amp; design universel (WCAG),</a:t>
            </a:r>
            <a:r>
              <a:rPr lang="en-US" sz="1650">
                <a:solidFill>
                  <a:srgbClr val="5B6470"/>
                </a:solidFill>
                <a:latin typeface="Calibri"/>
                <a:ea typeface="Calibri"/>
                <a:cs typeface="Calibri"/>
              </a:rPr>
              <a:t>  pensés avec les personnes concernées, sans aucune stigmatisation.</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name="Slide 4">
    <p:bg>
      <p:bgPr>
        <a:solidFill>
          <a:srgbClr val="FFFFFF"/>
        </a:solidFill>
        <a:effectLst/>
      </p:bgPr>
    </p:bg>
    <p:spTree>
      <p:nvGrpSpPr>
        <p:cNvPr id="1" name=""/>
        <p:cNvGrpSpPr/>
        <p:nvPr/>
      </p:nvGrpSpPr>
      <p:grpSpPr bwMode="auto">
        <a:xfrm>
          <a:off x="0" y="0"/>
          <a:ext cx="0" cy="0"/>
          <a:chOff x="0" y="0"/>
          <a:chExt cx="0" cy="0"/>
        </a:xfrm>
      </p:grpSpPr>
      <p:sp>
        <p:nvSpPr>
          <p:cNvPr id="359049725"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964065222"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40385862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IA : garder l'humain aux commandes</a:t>
            </a:r>
            <a:endParaRPr lang="en-US" sz="2800"/>
          </a:p>
        </p:txBody>
      </p:sp>
      <p:sp>
        <p:nvSpPr>
          <p:cNvPr id="1794108093"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51914962"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757592269"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181498509"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339620663"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Transparence :</a:t>
            </a:r>
            <a:r>
              <a:rPr lang="en-US" sz="1650">
                <a:solidFill>
                  <a:srgbClr val="5B6470"/>
                </a:solidFill>
                <a:latin typeface="Calibri"/>
                <a:ea typeface="Calibri"/>
                <a:cs typeface="Calibri"/>
              </a:rPr>
              <a:t>  savoir quand une décision est automatisée et comment un prix est calculé.</a:t>
            </a:r>
            <a:endParaRPr lang="en-US" sz="1650"/>
          </a:p>
        </p:txBody>
      </p:sp>
      <p:sp>
        <p:nvSpPr>
          <p:cNvPr id="1347771240"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208023194"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439020366"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 Human in the loop » :</a:t>
            </a:r>
            <a:r>
              <a:rPr lang="en-US" sz="1650">
                <a:solidFill>
                  <a:srgbClr val="5B6470"/>
                </a:solidFill>
                <a:latin typeface="Calibri"/>
                <a:ea typeface="Calibri"/>
                <a:cs typeface="Calibri"/>
              </a:rPr>
              <a:t>  aucune décision lourde (amende, blocage) prise par l'algorithme seul.</a:t>
            </a:r>
            <a:endParaRPr lang="en-US" sz="1650"/>
          </a:p>
        </p:txBody>
      </p:sp>
      <p:sp>
        <p:nvSpPr>
          <p:cNvPr id="481292353"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1224662213"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14079205"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Lutte contre les biais :</a:t>
            </a:r>
            <a:r>
              <a:rPr lang="en-US" sz="1650">
                <a:solidFill>
                  <a:srgbClr val="5B6470"/>
                </a:solidFill>
                <a:latin typeface="Calibri"/>
                <a:ea typeface="Calibri"/>
                <a:cs typeface="Calibri"/>
              </a:rPr>
              <a:t>  audits pour ne pas désavantager selon le revenu, l'âge, le quartier, le handicap.</a:t>
            </a:r>
            <a:endParaRPr lang="en-US" sz="1650"/>
          </a:p>
        </p:txBody>
      </p:sp>
      <p:sp>
        <p:nvSpPr>
          <p:cNvPr id="948545986"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1690663278"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853882234"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L'IA assiste,</a:t>
            </a:r>
            <a:r>
              <a:rPr lang="en-US" sz="1650">
                <a:solidFill>
                  <a:srgbClr val="5B6470"/>
                </a:solidFill>
                <a:latin typeface="Calibri"/>
                <a:ea typeface="Calibri"/>
                <a:cs typeface="Calibri"/>
              </a:rPr>
              <a:t>  elle ne remplace pas le jugement humain.</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name="Slide 5">
    <p:bg>
      <p:bgPr>
        <a:solidFill>
          <a:srgbClr val="FFFFFF"/>
        </a:solidFill>
        <a:effectLst/>
      </p:bgPr>
    </p:bg>
    <p:spTree>
      <p:nvGrpSpPr>
        <p:cNvPr id="1" name=""/>
        <p:cNvGrpSpPr/>
        <p:nvPr/>
      </p:nvGrpSpPr>
      <p:grpSpPr bwMode="auto">
        <a:xfrm>
          <a:off x="0" y="0"/>
          <a:ext cx="0" cy="0"/>
          <a:chOff x="0" y="0"/>
          <a:chExt cx="0" cy="0"/>
        </a:xfrm>
      </p:grpSpPr>
      <p:sp>
        <p:nvSpPr>
          <p:cNvPr id="1676863189"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139250667"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2130727879"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Données &amp; vie privée : la confiance d'abord</a:t>
            </a:r>
            <a:endParaRPr lang="en-US" sz="2800"/>
          </a:p>
        </p:txBody>
      </p:sp>
      <p:sp>
        <p:nvSpPr>
          <p:cNvPr id="123396427"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790788635"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324645375"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515651770"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656284840"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Collecte minimale,</a:t>
            </a:r>
            <a:r>
              <a:rPr lang="en-US" sz="1650">
                <a:solidFill>
                  <a:srgbClr val="5B6470"/>
                </a:solidFill>
                <a:latin typeface="Calibri"/>
                <a:ea typeface="Calibri"/>
                <a:cs typeface="Calibri"/>
              </a:rPr>
              <a:t>  finalité limitée, données hébergées en Suisse.</a:t>
            </a:r>
            <a:endParaRPr lang="en-US" sz="1650"/>
          </a:p>
        </p:txBody>
      </p:sp>
      <p:sp>
        <p:nvSpPr>
          <p:cNvPr id="1097272148"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2180924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6433670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Jamais de </a:t>
            </a:r>
            <a:r>
              <a:rPr lang="en-US" sz="1650" b="1" dirty="0" err="1">
                <a:solidFill>
                  <a:srgbClr val="1F2328"/>
                </a:solidFill>
                <a:latin typeface="Calibri"/>
                <a:ea typeface="Calibri"/>
                <a:cs typeface="Calibri"/>
              </a:rPr>
              <a:t>revente</a:t>
            </a:r>
            <a:r>
              <a:rPr lang="en-US" sz="1650" dirty="0">
                <a:solidFill>
                  <a:srgbClr val="5B6470"/>
                </a:solidFill>
                <a:latin typeface="Calibri"/>
                <a:ea typeface="Calibri"/>
                <a:cs typeface="Calibri"/>
              </a:rPr>
              <a:t>  à des tiers à des fins </a:t>
            </a:r>
            <a:r>
              <a:rPr lang="en-US" sz="1650" dirty="0" err="1">
                <a:solidFill>
                  <a:srgbClr val="5B6470"/>
                </a:solidFill>
                <a:latin typeface="Calibri"/>
                <a:ea typeface="Calibri"/>
                <a:cs typeface="Calibri"/>
              </a:rPr>
              <a:t>publicitaires</a:t>
            </a:r>
            <a:r>
              <a:rPr lang="en-US" sz="1650" dirty="0">
                <a:solidFill>
                  <a:srgbClr val="5B6470"/>
                </a:solidFill>
                <a:latin typeface="Calibri"/>
                <a:ea typeface="Calibri"/>
                <a:cs typeface="Calibri"/>
              </a:rPr>
              <a:t>.</a:t>
            </a:r>
            <a:endParaRPr lang="en-US" sz="1650" dirty="0"/>
          </a:p>
        </p:txBody>
      </p:sp>
      <p:sp>
        <p:nvSpPr>
          <p:cNvPr id="1516478487"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865947942"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773545303"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dirty="0" err="1">
                <a:solidFill>
                  <a:srgbClr val="1F2328"/>
                </a:solidFill>
                <a:latin typeface="Calibri"/>
                <a:ea typeface="Calibri"/>
                <a:cs typeface="Calibri"/>
              </a:rPr>
              <a:t>Refus</a:t>
            </a:r>
            <a:r>
              <a:rPr lang="en-US" sz="1650" b="1" dirty="0">
                <a:solidFill>
                  <a:srgbClr val="1F2328"/>
                </a:solidFill>
                <a:latin typeface="Calibri"/>
                <a:ea typeface="Calibri"/>
                <a:cs typeface="Calibri"/>
              </a:rPr>
              <a:t> d'un </a:t>
            </a:r>
            <a:r>
              <a:rPr lang="en-US" sz="1650" b="1" dirty="0" err="1">
                <a:solidFill>
                  <a:srgbClr val="1F2328"/>
                </a:solidFill>
                <a:latin typeface="Calibri"/>
                <a:ea typeface="Calibri"/>
                <a:cs typeface="Calibri"/>
              </a:rPr>
              <a:t>historique</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exhaustif</a:t>
            </a:r>
            <a:r>
              <a:rPr lang="en-US" sz="1650" dirty="0">
                <a:solidFill>
                  <a:srgbClr val="5B6470"/>
                </a:solidFill>
                <a:latin typeface="Calibri"/>
                <a:ea typeface="Calibri"/>
                <a:cs typeface="Calibri"/>
              </a:rPr>
              <a:t> et permanent des </a:t>
            </a:r>
            <a:r>
              <a:rPr lang="en-US" sz="1650" dirty="0" err="1">
                <a:solidFill>
                  <a:srgbClr val="5B6470"/>
                </a:solidFill>
                <a:latin typeface="Calibri"/>
                <a:ea typeface="Calibri"/>
                <a:cs typeface="Calibri"/>
              </a:rPr>
              <a:t>déplacements</a:t>
            </a:r>
            <a:r>
              <a:rPr lang="en-US" sz="1650" dirty="0">
                <a:solidFill>
                  <a:srgbClr val="5B6470"/>
                </a:solidFill>
                <a:latin typeface="Calibri"/>
                <a:ea typeface="Calibri"/>
                <a:cs typeface="Calibri"/>
              </a:rPr>
              <a:t>.</a:t>
            </a:r>
            <a:endParaRPr lang="en-US" sz="1650" dirty="0"/>
          </a:p>
        </p:txBody>
      </p:sp>
      <p:sp>
        <p:nvSpPr>
          <p:cNvPr id="1232450669"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40741159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761702408"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Pas de </a:t>
            </a:r>
            <a:r>
              <a:rPr lang="en-US" sz="1650" b="1" dirty="0" err="1">
                <a:solidFill>
                  <a:srgbClr val="1F2328"/>
                </a:solidFill>
                <a:latin typeface="Calibri"/>
                <a:ea typeface="Calibri"/>
                <a:cs typeface="Calibri"/>
              </a:rPr>
              <a:t>biométrie</a:t>
            </a:r>
            <a:r>
              <a:rPr lang="en-US" sz="1650" b="1" dirty="0">
                <a:solidFill>
                  <a:srgbClr val="1F2328"/>
                </a:solidFill>
                <a:latin typeface="Calibri"/>
                <a:ea typeface="Calibri"/>
                <a:cs typeface="Calibri"/>
              </a:rPr>
              <a:t> </a:t>
            </a:r>
            <a:r>
              <a:rPr lang="en-US" sz="1650" b="1" dirty="0" err="1">
                <a:solidFill>
                  <a:srgbClr val="1F2328"/>
                </a:solidFill>
                <a:latin typeface="Calibri"/>
                <a:ea typeface="Calibri"/>
                <a:cs typeface="Calibri"/>
              </a:rPr>
              <a:t>imposée</a:t>
            </a:r>
            <a:r>
              <a:rPr lang="en-US" sz="1650" b="1" dirty="0">
                <a:solidFill>
                  <a:srgbClr val="1F2328"/>
                </a:solidFill>
                <a:latin typeface="Calibri"/>
                <a:ea typeface="Calibri"/>
                <a:cs typeface="Calibri"/>
              </a:rPr>
              <a:t> :</a:t>
            </a:r>
            <a:r>
              <a:rPr lang="en-US" sz="1650" dirty="0">
                <a:solidFill>
                  <a:srgbClr val="5B6470"/>
                </a:solidFill>
                <a:latin typeface="Calibri"/>
                <a:ea typeface="Calibri"/>
                <a:cs typeface="Calibri"/>
              </a:rPr>
              <a:t>  voyager de façon anonyme </a:t>
            </a:r>
            <a:r>
              <a:rPr lang="en-US" sz="1650" dirty="0" err="1">
                <a:solidFill>
                  <a:srgbClr val="5B6470"/>
                </a:solidFill>
                <a:latin typeface="Calibri"/>
                <a:ea typeface="Calibri"/>
                <a:cs typeface="Calibri"/>
              </a:rPr>
              <a:t>reste</a:t>
            </a:r>
            <a:r>
              <a:rPr lang="en-US" sz="1650" dirty="0">
                <a:solidFill>
                  <a:srgbClr val="5B6470"/>
                </a:solidFill>
                <a:latin typeface="Calibri"/>
                <a:ea typeface="Calibri"/>
                <a:cs typeface="Calibri"/>
              </a:rPr>
              <a:t> possible.</a:t>
            </a:r>
            <a:endParaRPr lang="en-US" sz="1650"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name="Slide 6">
    <p:bg>
      <p:bgPr>
        <a:solidFill>
          <a:srgbClr val="FFFFFF"/>
        </a:solidFill>
        <a:effectLst/>
      </p:bgPr>
    </p:bg>
    <p:spTree>
      <p:nvGrpSpPr>
        <p:cNvPr id="1" name=""/>
        <p:cNvGrpSpPr/>
        <p:nvPr/>
      </p:nvGrpSpPr>
      <p:grpSpPr bwMode="auto">
        <a:xfrm>
          <a:off x="0" y="0"/>
          <a:ext cx="0" cy="0"/>
          <a:chOff x="0" y="0"/>
          <a:chExt cx="0" cy="0"/>
        </a:xfrm>
      </p:grpSpPr>
      <p:sp>
        <p:nvSpPr>
          <p:cNvPr id="303028903"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509832350"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77255817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Hybridation : la technologie au service </a:t>
            </a:r>
          </a:p>
          <a:p>
            <a:pPr marL="0" indent="0">
              <a:buNone/>
              <a:defRPr/>
            </a:pPr>
            <a:r>
              <a:rPr lang="en-US" sz="2800" b="1">
                <a:solidFill>
                  <a:srgbClr val="1F2328"/>
                </a:solidFill>
                <a:latin typeface="Calibri"/>
                <a:ea typeface="Calibri"/>
                <a:cs typeface="Calibri"/>
              </a:rPr>
              <a:t>de l'humain</a:t>
            </a:r>
          </a:p>
        </p:txBody>
      </p:sp>
      <p:sp>
        <p:nvSpPr>
          <p:cNvPr id="881608356"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246468679"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1533072108" name="Shape 4"/>
          <p:cNvSpPr/>
          <p:nvPr/>
        </p:nvSpPr>
        <p:spPr bwMode="auto">
          <a:xfrm>
            <a:off x="777240" y="2807208"/>
            <a:ext cx="420624" cy="420624"/>
          </a:xfrm>
          <a:prstGeom prst="ellipse">
            <a:avLst/>
          </a:prstGeom>
          <a:solidFill>
            <a:srgbClr val="FCE9E9"/>
          </a:solidFill>
          <a:ln/>
        </p:spPr>
        <p:txBody>
          <a:bodyPr/>
          <a:lstStyle/>
          <a:p>
            <a:endParaRPr lang="fr-CH"/>
          </a:p>
        </p:txBody>
      </p:sp>
      <p:sp>
        <p:nvSpPr>
          <p:cNvPr id="1356129797"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52352757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technologie augmente l'usager :</a:t>
            </a:r>
            <a:r>
              <a:rPr lang="en-US" sz="1650">
                <a:solidFill>
                  <a:srgbClr val="5B6470"/>
                </a:solidFill>
                <a:latin typeface="Calibri"/>
                <a:ea typeface="Calibri"/>
                <a:cs typeface="Calibri"/>
              </a:rPr>
              <a:t>  planifier, anticiper un retard, voyager sereinement.</a:t>
            </a:r>
            <a:endParaRPr lang="en-US" sz="1650"/>
          </a:p>
        </p:txBody>
      </p:sp>
      <p:sp>
        <p:nvSpPr>
          <p:cNvPr id="255307718" name="Shape 7"/>
          <p:cNvSpPr/>
          <p:nvPr/>
        </p:nvSpPr>
        <p:spPr bwMode="auto">
          <a:xfrm>
            <a:off x="777240" y="3858768"/>
            <a:ext cx="420624" cy="420624"/>
          </a:xfrm>
          <a:prstGeom prst="ellipse">
            <a:avLst/>
          </a:prstGeom>
          <a:solidFill>
            <a:srgbClr val="FCE9E9"/>
          </a:solidFill>
          <a:ln/>
        </p:spPr>
        <p:txBody>
          <a:bodyPr/>
          <a:lstStyle/>
          <a:p>
            <a:endParaRPr lang="fr-CH"/>
          </a:p>
        </p:txBody>
      </p:sp>
      <p:sp>
        <p:nvSpPr>
          <p:cNvPr id="995268248"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656115838"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Elle libère le personnel</a:t>
            </a:r>
            <a:r>
              <a:rPr lang="en-US" sz="1650">
                <a:solidFill>
                  <a:srgbClr val="5B6470"/>
                </a:solidFill>
                <a:latin typeface="Calibri"/>
                <a:ea typeface="Calibri"/>
                <a:cs typeface="Calibri"/>
              </a:rPr>
              <a:t>  des tâches répétitives, pour l'accompagnement et le conseil.</a:t>
            </a:r>
            <a:endParaRPr lang="en-US" sz="1650"/>
          </a:p>
        </p:txBody>
      </p:sp>
      <p:sp>
        <p:nvSpPr>
          <p:cNvPr id="748415393" name="Shape 10"/>
          <p:cNvSpPr/>
          <p:nvPr/>
        </p:nvSpPr>
        <p:spPr bwMode="auto">
          <a:xfrm>
            <a:off x="777240" y="4910328"/>
            <a:ext cx="420624" cy="420624"/>
          </a:xfrm>
          <a:prstGeom prst="ellipse">
            <a:avLst/>
          </a:prstGeom>
          <a:solidFill>
            <a:srgbClr val="FCE9E9"/>
          </a:solidFill>
          <a:ln/>
        </p:spPr>
        <p:txBody>
          <a:bodyPr/>
          <a:lstStyle/>
          <a:p>
            <a:endParaRPr lang="fr-CH"/>
          </a:p>
        </p:txBody>
      </p:sp>
      <p:sp>
        <p:nvSpPr>
          <p:cNvPr id="1776584642"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964333141"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présence humaine en gare et à bord</a:t>
            </a:r>
            <a:r>
              <a:rPr lang="en-US" sz="1650">
                <a:solidFill>
                  <a:srgbClr val="5B6470"/>
                </a:solidFill>
                <a:latin typeface="Calibri"/>
                <a:ea typeface="Calibri"/>
                <a:cs typeface="Calibri"/>
              </a:rPr>
              <a:t>  est un choix assumé, pas un coût à supprimer.</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name="Slide 7">
    <p:bg>
      <p:bgPr>
        <a:solidFill>
          <a:srgbClr val="FFFFFF"/>
        </a:solidFill>
        <a:effectLst/>
      </p:bgPr>
    </p:bg>
    <p:spTree>
      <p:nvGrpSpPr>
        <p:cNvPr id="1" name=""/>
        <p:cNvGrpSpPr/>
        <p:nvPr/>
      </p:nvGrpSpPr>
      <p:grpSpPr bwMode="auto">
        <a:xfrm>
          <a:off x="0" y="0"/>
          <a:ext cx="0" cy="0"/>
          <a:chOff x="0" y="0"/>
          <a:chExt cx="0" cy="0"/>
        </a:xfrm>
      </p:grpSpPr>
      <p:sp>
        <p:nvSpPr>
          <p:cNvPr id="522955634"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31770901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637478763"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Durabilité : la sobriété, pas seulement </a:t>
            </a:r>
          </a:p>
          <a:p>
            <a:pPr marL="0" indent="0">
              <a:buNone/>
              <a:defRPr/>
            </a:pPr>
            <a:r>
              <a:rPr lang="en-US" sz="2800" b="1">
                <a:solidFill>
                  <a:srgbClr val="1F2328"/>
                </a:solidFill>
                <a:latin typeface="Calibri"/>
                <a:ea typeface="Calibri"/>
                <a:cs typeface="Calibri"/>
              </a:rPr>
              <a:t>« moins de papier »</a:t>
            </a:r>
            <a:endParaRPr lang="en-US" sz="2800"/>
          </a:p>
        </p:txBody>
      </p:sp>
      <p:sp>
        <p:nvSpPr>
          <p:cNvPr id="881727421"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466893324"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618692110"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1551961406"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931758247"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Numériser ce qui a une valeur réelle,</a:t>
            </a:r>
            <a:r>
              <a:rPr lang="en-US" sz="1650">
                <a:solidFill>
                  <a:srgbClr val="5B6470"/>
                </a:solidFill>
                <a:latin typeface="Calibri"/>
                <a:ea typeface="Calibri"/>
                <a:cs typeface="Calibri"/>
              </a:rPr>
              <a:t>  pas multiplier les usages.</a:t>
            </a:r>
            <a:endParaRPr lang="en-US" sz="1650"/>
          </a:p>
        </p:txBody>
      </p:sp>
      <p:sp>
        <p:nvSpPr>
          <p:cNvPr id="1790048891"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70642620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91692541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Écoconception :</a:t>
            </a:r>
            <a:r>
              <a:rPr lang="en-US" sz="1650">
                <a:solidFill>
                  <a:srgbClr val="5B6470"/>
                </a:solidFill>
                <a:latin typeface="Calibri"/>
                <a:ea typeface="Calibri"/>
                <a:cs typeface="Calibri"/>
              </a:rPr>
              <a:t>  apps légères pour smartphones anciens — contre l'obsolescence.</a:t>
            </a:r>
            <a:endParaRPr lang="en-US" sz="1650"/>
          </a:p>
        </p:txBody>
      </p:sp>
      <p:sp>
        <p:nvSpPr>
          <p:cNvPr id="1483860999"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2129556845"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75251791"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Supports durables (SwissPass),</a:t>
            </a:r>
            <a:r>
              <a:rPr lang="en-US" sz="1650">
                <a:solidFill>
                  <a:srgbClr val="5B6470"/>
                </a:solidFill>
                <a:latin typeface="Calibri"/>
                <a:ea typeface="Calibri"/>
                <a:cs typeface="Calibri"/>
              </a:rPr>
              <a:t>  data centers en électricité renouvelable.</a:t>
            </a:r>
            <a:endParaRPr lang="en-US" sz="1650"/>
          </a:p>
        </p:txBody>
      </p:sp>
      <p:sp>
        <p:nvSpPr>
          <p:cNvPr id="567503649"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195293072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527465565"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Le numérique n'est pas immatériel :</a:t>
            </a:r>
            <a:r>
              <a:rPr lang="en-US" sz="1650">
                <a:solidFill>
                  <a:srgbClr val="5B6470"/>
                </a:solidFill>
                <a:latin typeface="Calibri"/>
                <a:ea typeface="Calibri"/>
                <a:cs typeface="Calibri"/>
              </a:rPr>
              <a:t>  mesurer et publier l'empreinte réelle (effet rebond).</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name="Slide 8">
    <p:bg>
      <p:bgPr>
        <a:solidFill>
          <a:srgbClr val="A60510"/>
        </a:solidFill>
        <a:effectLst/>
      </p:bgPr>
    </p:bg>
    <p:spTree>
      <p:nvGrpSpPr>
        <p:cNvPr id="1" name=""/>
        <p:cNvGrpSpPr/>
        <p:nvPr/>
      </p:nvGrpSpPr>
      <p:grpSpPr bwMode="auto">
        <a:xfrm>
          <a:off x="0" y="0"/>
          <a:ext cx="0" cy="0"/>
          <a:chOff x="0" y="0"/>
          <a:chExt cx="0" cy="0"/>
        </a:xfrm>
      </p:grpSpPr>
      <p:sp>
        <p:nvSpPr>
          <p:cNvPr id="2045640315" name="Rectangle 2045640314"/>
          <p:cNvSpPr/>
          <p:nvPr/>
        </p:nvSpPr>
        <p:spPr bwMode="auto">
          <a:xfrm>
            <a:off x="13774" y="-55375"/>
            <a:ext cx="12626161" cy="7066219"/>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fr-CH"/>
          </a:p>
        </p:txBody>
      </p:sp>
      <p:sp>
        <p:nvSpPr>
          <p:cNvPr id="421653231" name="Shape 0"/>
          <p:cNvSpPr/>
          <p:nvPr/>
        </p:nvSpPr>
        <p:spPr bwMode="auto">
          <a:xfrm>
            <a:off x="822960" y="1325880"/>
            <a:ext cx="822960" cy="822960"/>
          </a:xfrm>
          <a:prstGeom prst="ellipse">
            <a:avLst/>
          </a:prstGeom>
          <a:solidFill>
            <a:srgbClr val="FFFFFF">
              <a:alpha val="14000"/>
            </a:srgbClr>
          </a:solidFill>
          <a:ln/>
        </p:spPr>
        <p:txBody>
          <a:bodyPr/>
          <a:lstStyle/>
          <a:p>
            <a:endParaRPr lang="fr-CH"/>
          </a:p>
        </p:txBody>
      </p:sp>
      <p:pic>
        <p:nvPicPr>
          <p:cNvPr id="345584798" name="Image 0" descr="preencoded.png"/>
          <p:cNvPicPr>
            <a:picLocks noChangeAspect="1"/>
          </p:cNvPicPr>
          <p:nvPr/>
        </p:nvPicPr>
        <p:blipFill rotWithShape="1">
          <a:blip r:embed="rId3"/>
          <a:stretch/>
        </p:blipFill>
        <p:spPr bwMode="auto">
          <a:xfrm>
            <a:off x="1024128" y="1527048"/>
            <a:ext cx="420624" cy="420624"/>
          </a:xfrm>
          <a:prstGeom prst="rect">
            <a:avLst/>
          </a:prstGeom>
        </p:spPr>
      </p:pic>
      <p:sp>
        <p:nvSpPr>
          <p:cNvPr id="2121393973" name="Text 1"/>
          <p:cNvSpPr/>
          <p:nvPr/>
        </p:nvSpPr>
        <p:spPr bwMode="auto">
          <a:xfrm>
            <a:off x="822960" y="2423160"/>
            <a:ext cx="10515600" cy="1828800"/>
          </a:xfrm>
          <a:prstGeom prst="rect">
            <a:avLst/>
          </a:prstGeom>
          <a:noFill/>
          <a:ln/>
        </p:spPr>
        <p:txBody>
          <a:bodyPr wrap="square" rtlCol="0" anchor="ctr"/>
          <a:lstStyle/>
          <a:p>
            <a:pPr marL="0" indent="0">
              <a:lnSpc>
                <a:spcPct val="108000"/>
              </a:lnSpc>
              <a:buNone/>
              <a:defRPr/>
            </a:pPr>
            <a:r>
              <a:rPr lang="en-US" sz="3000" b="1">
                <a:solidFill>
                  <a:srgbClr val="FFFFFF"/>
                </a:solidFill>
                <a:latin typeface="Calibri"/>
                <a:ea typeface="Calibri"/>
                <a:cs typeface="Calibri"/>
              </a:rPr>
              <a:t>Nos choix de conception ne sont jamais neutres : une décision technique est souvent une décision éthique déguisée.</a:t>
            </a:r>
            <a:endParaRPr lang="en-US" sz="3000"/>
          </a:p>
        </p:txBody>
      </p:sp>
      <p:sp>
        <p:nvSpPr>
          <p:cNvPr id="1933950571" name="Text 2"/>
          <p:cNvSpPr/>
          <p:nvPr/>
        </p:nvSpPr>
        <p:spPr bwMode="auto">
          <a:xfrm>
            <a:off x="841248" y="4434840"/>
            <a:ext cx="10241280" cy="914400"/>
          </a:xfrm>
          <a:prstGeom prst="rect">
            <a:avLst/>
          </a:prstGeom>
          <a:noFill/>
          <a:ln/>
        </p:spPr>
        <p:txBody>
          <a:bodyPr wrap="square" rtlCol="0" anchor="ctr"/>
          <a:lstStyle/>
          <a:p>
            <a:pPr marL="0" indent="0">
              <a:buNone/>
              <a:defRPr/>
            </a:pPr>
            <a:r>
              <a:rPr lang="en-US" sz="1800" i="1">
                <a:solidFill>
                  <a:srgbClr val="FFFFFF">
                    <a:alpha val="92000"/>
                  </a:srgbClr>
                </a:solidFill>
                <a:latin typeface="Calibri"/>
                <a:ea typeface="Calibri"/>
                <a:cs typeface="Calibri"/>
              </a:rPr>
              <a:t>Concevoir une mobilité numérique qui n'oublie personne — sobre, accessible et respectueuse de la vie privée.</a:t>
            </a:r>
            <a:endParaRPr lang="en-US" sz="1800"/>
          </a:p>
        </p:txBody>
      </p:sp>
      <p:sp>
        <p:nvSpPr>
          <p:cNvPr id="766964092" name="Text 3"/>
          <p:cNvSpPr/>
          <p:nvPr/>
        </p:nvSpPr>
        <p:spPr bwMode="auto">
          <a:xfrm>
            <a:off x="841248" y="5806440"/>
            <a:ext cx="10241280" cy="548640"/>
          </a:xfrm>
          <a:prstGeom prst="rect">
            <a:avLst/>
          </a:prstGeom>
          <a:noFill/>
          <a:ln/>
        </p:spPr>
        <p:txBody>
          <a:bodyPr wrap="square" rtlCol="0" anchor="ctr"/>
          <a:lstStyle/>
          <a:p>
            <a:pPr marL="0" indent="0">
              <a:buNone/>
              <a:defRPr/>
            </a:pPr>
            <a:r>
              <a:rPr lang="en-US" sz="1600" b="1">
                <a:solidFill>
                  <a:srgbClr val="FFFFFF"/>
                </a:solidFill>
                <a:latin typeface="Calibri"/>
                <a:ea typeface="Calibri"/>
                <a:cs typeface="Calibri"/>
              </a:rPr>
              <a:t>Merci de votre attention.   </a:t>
            </a:r>
            <a:r>
              <a:rPr lang="en-US" sz="1600">
                <a:solidFill>
                  <a:srgbClr val="FFFFFF">
                    <a:alpha val="88000"/>
                  </a:srgbClr>
                </a:solidFill>
                <a:latin typeface="Calibri"/>
                <a:ea typeface="Calibri"/>
                <a:cs typeface="Calibri"/>
              </a:rPr>
              <a:t>Sofian · Arthur · Mirco</a:t>
            </a:r>
            <a:endParaRPr lang="en-US" sz="160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928</Words>
  <Application>Microsoft Office PowerPoint</Application>
  <PresentationFormat>Grand écran</PresentationFormat>
  <Paragraphs>87</Paragraphs>
  <Slides>8</Slides>
  <Notes>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vt:i4>
      </vt:variant>
    </vt:vector>
  </HeadingPairs>
  <TitlesOfParts>
    <vt:vector size="12"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Charte éthique CFF</dc:title>
  <dc:subject>PptxGenJS Presentation</dc:subject>
  <dc:creator>Sofian Ethenoz, Arthur Menétrey, Mirco Profico</dc:creator>
  <cp:lastModifiedBy>Arthur Mnétrey</cp:lastModifiedBy>
  <cp:revision>5</cp:revision>
  <dcterms:created xsi:type="dcterms:W3CDTF">2026-06-04T19:10:10Z</dcterms:created>
  <dcterms:modified xsi:type="dcterms:W3CDTF">2026-06-05T18:54:20Z</dcterms:modified>
</cp:coreProperties>
</file>