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[VOIX 1 — Sofian]</a:t>
            </a:r>
          </a:p>
          <a:p>
            <a:r>
              <a:t>Bonjour. Nous vous présentons notre charte éthique et de durabilité numérique, construite autour d'un cas concret : la numérisation des titres de transport aux CFF, l'entreprise de transport public de toute la Suisse. Notre fil conducteur est simple : un outil pensé pour faciliter la mobilité du plus grand nombre ne doit jamais finir par exclure celles et ceux qui dépendent le plus du service public.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[VOIX 1 — Sofian]</a:t>
            </a:r>
          </a:p>
          <a:p>
            <a:r>
              <a:t>Les CFF ont numérisé leurs titres : application Mobile CFF, carte SwissPass, système EasyRide par géolocalisation, vente en ligne qui remplace les guichets. Mais un service public doit servir tout le monde. Or, parmi les usagers, se trouvent des personnes vulnérables — personnes âgées, en situation de handicap, à faibles revenus, jeunes ou touristes — pour qui le tout-numérique peut devenir une barrière. C'est de ce constat que naît notre charte.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[VOIX 2 — Arthur]</a:t>
            </a:r>
          </a:p>
          <a:p>
            <a:r>
              <a:t>Notre charte tient en treize engagements, regroupés en cinq axes. Premier axe, l'autonomie : la mobilité reste un droit, pas un privilège des personnes connectées ; pour chaque service numérique, une alternative — guichet ou billet papier — jamais plus chère. Deuxième axe, la vulnérabilité et l'intelligence artificielle : des interfaces accessibles, conçues avec les personnes concernées ; une IA transparente, sous contrôle humain et auditée contre les biais — elle assiste le jugement, sans le remplacer.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[VOIX 2 — Arthur]</a:t>
            </a:r>
          </a:p>
          <a:p>
            <a:r>
              <a:t>Troisième axe, l'hybridation entre humain et technologie : nous la voulons au service de l'humain, avec une présence humaine assumée en gare. Notre limite : pas de biométrie imposée, et il reste possible de voyager anonymement. Quatrième axe, les valeurs : solidarité, égalité d'accès, confiance et vie privée. Les données sont minimisées, hébergées en Suisse, jamais revendues ; nous refusons tout historique permanent des déplacements.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[VOIX 3 — Mirco]</a:t>
            </a:r>
          </a:p>
          <a:p>
            <a:r>
              <a:t>Cinquième axe : la durabilité. Nous inscrivons le numérique dans une logique de sobriété — numériser ce qui a une vraie valeur, sans multiplier les usages. Des applications légères, compatibles avec les anciens smartphones pour éviter l'obsolescence, des data centers à l'électricité renouvelable. Et une lecture critique : le numérique n'est pas immatériel. Supprimer le papier ne suffit pas si l'on pousse à changer de téléphone — c'est l'effet rebond. Nous visons donc un bénéfice net, mesuré et publié.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[VOIX 3 — Mirco]</a:t>
            </a:r>
          </a:p>
          <a:p>
            <a:r>
              <a:t>En conclusion, nos choix de conception ne sont jamais neutres : qu'une application tourne sur un vieux téléphone, qu'un guichet reste ouvert ou qu'un algorithme n'ait pas le dernier mot, ce sont des décisions éthiques déguisées en décisions techniques. Nous voulons intégrer l'éthique et la durabilité dès le départ, et garder les plus vulnérables comme mesure de la qualité d'une technologie. Concevoir une mobilité numérique qui n'oublie personne : voilà notre engagement. Merci de votre attention.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32720" cy="2743200"/>
          </a:xfrm>
          <a:prstGeom prst="rect">
            <a:avLst/>
          </a:prstGeom>
          <a:noFill/>
        </p:spPr>
        <p:txBody>
          <a:bodyPr wrap="square" anchor="t">
            <a:spAutoFit/>
          </a:bodyPr>
          <a:lstStyle/>
          <a:p>
            <a:pPr algn="l">
              <a:spcAft>
                <a:spcPts val="1400"/>
              </a:spcAft>
            </a:pPr>
            <a:r>
              <a:rPr sz="1500" b="1" i="0">
                <a:solidFill>
                  <a:srgbClr val="FFFFFF"/>
                </a:solidFill>
                <a:latin typeface="Liberation Sans"/>
              </a:rPr>
              <a:t>CHARTE ÉTHIQUE &amp; DURABILITÉ NUMÉRIQUE</a:t>
            </a:r>
          </a:p>
          <a:p>
            <a:pPr algn="l">
              <a:spcAft>
                <a:spcPts val="1000"/>
              </a:spcAft>
            </a:pPr>
            <a:r>
              <a:rPr sz="4000" b="1" i="0">
                <a:solidFill>
                  <a:srgbClr val="FFFFFF"/>
                </a:solidFill>
                <a:latin typeface="Liberation Sans"/>
              </a:rPr>
              <a:t>La numérisation des titres de transport aux CFF</a:t>
            </a:r>
          </a:p>
          <a:p>
            <a:pPr algn="l">
              <a:spcAft>
                <a:spcPts val="0"/>
              </a:spcAft>
            </a:pPr>
            <a:r>
              <a:rPr sz="2000" b="0" i="1">
                <a:solidFill>
                  <a:srgbClr val="FFFFFF"/>
                </a:solidFill>
                <a:latin typeface="Liberation Sans"/>
              </a:rPr>
              <a:t>Fondements, engagements et réflexion critique</a:t>
            </a:r>
          </a:p>
        </p:txBody>
      </p:sp>
      <p:sp>
        <p:nvSpPr>
          <p:cNvPr id="4" name="TextBox 3"/>
          <p:cNvSpPr txBox="1"/>
          <p:nvPr/>
        </p:nvSpPr>
        <p:spPr>
          <a:xfrm>
            <a:off x="914400" y="5669280"/>
            <a:ext cx="10332720" cy="914400"/>
          </a:xfrm>
          <a:prstGeom prst="rect">
            <a:avLst/>
          </a:prstGeom>
          <a:noFill/>
        </p:spPr>
        <p:txBody>
          <a:bodyPr wrap="square" anchor="t">
            <a:spAutoFit/>
          </a:bodyPr>
          <a:lstStyle/>
          <a:p>
            <a:pPr algn="l">
              <a:spcAft>
                <a:spcPts val="600"/>
              </a:spcAft>
            </a:pPr>
            <a:r>
              <a:rPr sz="1500" b="0" i="0">
                <a:solidFill>
                  <a:srgbClr val="FFFFFF"/>
                </a:solidFill>
                <a:latin typeface="Liberation Sans"/>
              </a:rPr>
              <a:t>Cours Éthique et durabilité — HEIG-VD</a:t>
            </a:r>
          </a:p>
          <a:p>
            <a:pPr algn="l">
              <a:spcAft>
                <a:spcPts val="600"/>
              </a:spcAft>
            </a:pPr>
            <a:r>
              <a:rPr sz="1500" b="0" i="0">
                <a:solidFill>
                  <a:srgbClr val="FFFFFF"/>
                </a:solidFill>
                <a:latin typeface="Liberation Sans"/>
              </a:rPr>
              <a:t>Sofian Ethenoz  ·  Arthur Menétrey  ·  Mirco Profico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064240" cy="731520"/>
          </a:xfrm>
          <a:prstGeom prst="rect">
            <a:avLst/>
          </a:prstGeom>
          <a:noFill/>
        </p:spPr>
        <p:txBody>
          <a:bodyPr wrap="square" anchor="ctr">
            <a:spAutoFit/>
          </a:bodyPr>
          <a:lstStyle/>
          <a:p>
            <a:pPr algn="l">
              <a:spcAft>
                <a:spcPts val="600"/>
              </a:spcAft>
            </a:pPr>
            <a:r>
              <a:rPr sz="2600" b="1" i="0">
                <a:solidFill>
                  <a:srgbClr val="FFFFFF"/>
                </a:solidFill>
                <a:latin typeface="Liberation Sans"/>
              </a:rPr>
              <a:t>Les CFF, leurs technologies et leurs bénéficiaires</a:t>
            </a:r>
          </a:p>
        </p:txBody>
      </p:sp>
      <p:sp>
        <p:nvSpPr>
          <p:cNvPr id="4" name="TextBox 3"/>
          <p:cNvSpPr txBox="1"/>
          <p:nvPr/>
        </p:nvSpPr>
        <p:spPr>
          <a:xfrm>
            <a:off x="548640" y="1371600"/>
            <a:ext cx="5486400" cy="5120640"/>
          </a:xfrm>
          <a:prstGeom prst="rect">
            <a:avLst/>
          </a:prstGeom>
          <a:noFill/>
        </p:spPr>
        <p:txBody>
          <a:bodyPr wrap="square" anchor="t">
            <a:spAutoFit/>
          </a:bodyPr>
          <a:lstStyle/>
          <a:p>
            <a:pPr algn="l">
              <a:spcAft>
                <a:spcPts val="1000"/>
              </a:spcAft>
            </a:pPr>
            <a:r>
              <a:rPr sz="1800" b="1" i="0">
                <a:solidFill>
                  <a:srgbClr val="EB0000"/>
                </a:solidFill>
                <a:latin typeface="Liberation Sans"/>
              </a:rPr>
              <a:t>Des titres de transport numérisés</a:t>
            </a:r>
          </a:p>
          <a:p>
            <a:pPr algn="l">
              <a:spcAft>
                <a:spcPts val="800"/>
              </a:spcAft>
            </a:pPr>
            <a:r>
              <a:rPr sz="1500">
                <a:solidFill>
                  <a:srgbClr val="1C1C1C"/>
                </a:solidFill>
                <a:latin typeface="Liberation Sans"/>
              </a:rPr>
              <a:t>•  Application Mobile CFF — billets sur smartphone</a:t>
            </a:r>
          </a:p>
          <a:p>
            <a:pPr algn="l">
              <a:spcAft>
                <a:spcPts val="800"/>
              </a:spcAft>
            </a:pPr>
            <a:r>
              <a:rPr sz="1500">
                <a:solidFill>
                  <a:srgbClr val="1C1C1C"/>
                </a:solidFill>
                <a:latin typeface="Liberation Sans"/>
              </a:rPr>
              <a:t>•  SwissPass — carte à puce (AG, demi-tarif…)</a:t>
            </a:r>
          </a:p>
          <a:p>
            <a:pPr algn="l">
              <a:spcAft>
                <a:spcPts val="800"/>
              </a:spcAft>
            </a:pPr>
            <a:r>
              <a:rPr sz="1500">
                <a:solidFill>
                  <a:srgbClr val="1C1C1C"/>
                </a:solidFill>
                <a:latin typeface="Liberation Sans"/>
              </a:rPr>
              <a:t>•  EasyRide — achat automatique « check-in / check-out »</a:t>
            </a:r>
          </a:p>
          <a:p>
            <a:pPr algn="l">
              <a:spcAft>
                <a:spcPts val="800"/>
              </a:spcAft>
            </a:pPr>
            <a:r>
              <a:rPr sz="1500">
                <a:solidFill>
                  <a:srgbClr val="1C1C1C"/>
                </a:solidFill>
                <a:latin typeface="Liberation Sans"/>
              </a:rPr>
              <a:t>•  Automates et vente en ligne</a:t>
            </a:r>
          </a:p>
        </p:txBody>
      </p:sp>
      <p:sp>
        <p:nvSpPr>
          <p:cNvPr id="5" name="TextBox 4"/>
          <p:cNvSpPr txBox="1"/>
          <p:nvPr/>
        </p:nvSpPr>
        <p:spPr>
          <a:xfrm>
            <a:off x="6309360" y="1371600"/>
            <a:ext cx="5303520" cy="5120640"/>
          </a:xfrm>
          <a:prstGeom prst="rect">
            <a:avLst/>
          </a:prstGeom>
          <a:noFill/>
        </p:spPr>
        <p:txBody>
          <a:bodyPr wrap="square" anchor="t">
            <a:spAutoFit/>
          </a:bodyPr>
          <a:lstStyle/>
          <a:p>
            <a:pPr algn="l">
              <a:spcAft>
                <a:spcPts val="1000"/>
              </a:spcAft>
            </a:pPr>
            <a:r>
              <a:rPr sz="1800" b="1" i="0">
                <a:solidFill>
                  <a:srgbClr val="EB0000"/>
                </a:solidFill>
                <a:latin typeface="Liberation Sans"/>
              </a:rPr>
              <a:t>Un service public : servir TOUT le monde</a:t>
            </a:r>
          </a:p>
          <a:p>
            <a:pPr algn="l">
              <a:spcAft>
                <a:spcPts val="800"/>
              </a:spcAft>
            </a:pPr>
            <a:r>
              <a:rPr sz="1500" b="0" i="0">
                <a:solidFill>
                  <a:srgbClr val="1C1C1C"/>
                </a:solidFill>
                <a:latin typeface="Liberation Sans"/>
              </a:rPr>
              <a:t>Des personnes vulnérables face au numérique :</a:t>
            </a:r>
          </a:p>
          <a:p>
            <a:pPr algn="l">
              <a:spcAft>
                <a:spcPts val="800"/>
              </a:spcAft>
            </a:pPr>
            <a:r>
              <a:rPr sz="1500">
                <a:solidFill>
                  <a:srgbClr val="1C1C1C"/>
                </a:solidFill>
                <a:latin typeface="Liberation Sans"/>
              </a:rPr>
              <a:t>•  Personnes âgées (smartphone, paiement)</a:t>
            </a:r>
          </a:p>
          <a:p>
            <a:pPr algn="l">
              <a:spcAft>
                <a:spcPts val="800"/>
              </a:spcAft>
            </a:pPr>
            <a:r>
              <a:rPr sz="1500">
                <a:solidFill>
                  <a:srgbClr val="1C1C1C"/>
                </a:solidFill>
                <a:latin typeface="Liberation Sans"/>
              </a:rPr>
              <a:t>•  Personnes en situation de handicap (accessibilité)</a:t>
            </a:r>
          </a:p>
          <a:p>
            <a:pPr algn="l">
              <a:spcAft>
                <a:spcPts val="800"/>
              </a:spcAft>
            </a:pPr>
            <a:r>
              <a:rPr sz="1500">
                <a:solidFill>
                  <a:srgbClr val="1C1C1C"/>
                </a:solidFill>
                <a:latin typeface="Liberation Sans"/>
              </a:rPr>
              <a:t>•  Personnes à faibles revenus (pas de smartphone/data)</a:t>
            </a:r>
          </a:p>
          <a:p>
            <a:pPr algn="l">
              <a:spcAft>
                <a:spcPts val="800"/>
              </a:spcAft>
            </a:pPr>
            <a:r>
              <a:rPr sz="1500">
                <a:solidFill>
                  <a:srgbClr val="1C1C1C"/>
                </a:solidFill>
                <a:latin typeface="Liberation Sans"/>
              </a:rPr>
              <a:t>•  Jeunes, mineurs et touristes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064240" cy="731520"/>
          </a:xfrm>
          <a:prstGeom prst="rect">
            <a:avLst/>
          </a:prstGeom>
          <a:noFill/>
        </p:spPr>
        <p:txBody>
          <a:bodyPr wrap="square" anchor="ctr">
            <a:spAutoFit/>
          </a:bodyPr>
          <a:lstStyle/>
          <a:p>
            <a:pPr algn="l">
              <a:spcAft>
                <a:spcPts val="600"/>
              </a:spcAft>
            </a:pPr>
            <a:r>
              <a:rPr sz="2600" b="1" i="0">
                <a:solidFill>
                  <a:srgbClr val="FFFFFF"/>
                </a:solidFill>
                <a:latin typeface="Liberation Sans"/>
              </a:rPr>
              <a:t>Notre charte (1/3) — Autonomie &amp; vulnérabilité</a:t>
            </a:r>
          </a:p>
        </p:txBody>
      </p:sp>
      <p:sp>
        <p:nvSpPr>
          <p:cNvPr id="4" name="TextBox 3"/>
          <p:cNvSpPr txBox="1"/>
          <p:nvPr/>
        </p:nvSpPr>
        <p:spPr>
          <a:xfrm>
            <a:off x="548640" y="1325880"/>
            <a:ext cx="5486400" cy="5212080"/>
          </a:xfrm>
          <a:prstGeom prst="rect">
            <a:avLst/>
          </a:prstGeom>
          <a:noFill/>
        </p:spPr>
        <p:txBody>
          <a:bodyPr wrap="square" anchor="t">
            <a:spAutoFit/>
          </a:bodyPr>
          <a:lstStyle/>
          <a:p>
            <a:pPr algn="l">
              <a:spcAft>
                <a:spcPts val="800"/>
              </a:spcAft>
            </a:pPr>
            <a:r>
              <a:rPr sz="1800" b="1" i="0">
                <a:solidFill>
                  <a:srgbClr val="EB0000"/>
                </a:solidFill>
                <a:latin typeface="Liberation Sans"/>
              </a:rPr>
              <a:t>Axe 1 — Finalité &amp; autonomie</a:t>
            </a:r>
          </a:p>
          <a:p>
            <a:pPr algn="l">
              <a:spcAft>
                <a:spcPts val="800"/>
              </a:spcAft>
            </a:pPr>
            <a:r>
              <a:rPr sz="1500">
                <a:solidFill>
                  <a:srgbClr val="1C1C1C"/>
                </a:solidFill>
                <a:latin typeface="Liberation Sans"/>
              </a:rPr>
              <a:t>•  La mobilité reste un droit, pas un privilège des « connectés »</a:t>
            </a:r>
          </a:p>
          <a:p>
            <a:pPr algn="l">
              <a:spcAft>
                <a:spcPts val="800"/>
              </a:spcAft>
            </a:pPr>
            <a:r>
              <a:rPr sz="1500">
                <a:solidFill>
                  <a:srgbClr val="1C1C1C"/>
                </a:solidFill>
                <a:latin typeface="Liberation Sans"/>
              </a:rPr>
              <a:t>•  Toujours une alternative non numérique (guichet, papier)</a:t>
            </a:r>
          </a:p>
          <a:p>
            <a:pPr algn="l">
              <a:spcAft>
                <a:spcPts val="800"/>
              </a:spcAft>
            </a:pPr>
            <a:r>
              <a:rPr sz="1500">
                <a:solidFill>
                  <a:srgbClr val="1C1C1C"/>
                </a:solidFill>
                <a:latin typeface="Liberation Sans"/>
              </a:rPr>
              <a:t>•  Le numérique ne coûte jamais moins cher : pas de contrainte</a:t>
            </a:r>
          </a:p>
        </p:txBody>
      </p:sp>
      <p:sp>
        <p:nvSpPr>
          <p:cNvPr id="5" name="TextBox 4"/>
          <p:cNvSpPr txBox="1"/>
          <p:nvPr/>
        </p:nvSpPr>
        <p:spPr>
          <a:xfrm>
            <a:off x="6309360" y="1325880"/>
            <a:ext cx="5303520" cy="5212080"/>
          </a:xfrm>
          <a:prstGeom prst="rect">
            <a:avLst/>
          </a:prstGeom>
          <a:noFill/>
        </p:spPr>
        <p:txBody>
          <a:bodyPr wrap="square" anchor="t">
            <a:spAutoFit/>
          </a:bodyPr>
          <a:lstStyle/>
          <a:p>
            <a:pPr algn="l">
              <a:spcAft>
                <a:spcPts val="800"/>
              </a:spcAft>
            </a:pPr>
            <a:r>
              <a:rPr sz="1800" b="1" i="0">
                <a:solidFill>
                  <a:srgbClr val="EB0000"/>
                </a:solidFill>
                <a:latin typeface="Liberation Sans"/>
              </a:rPr>
              <a:t>Axe 2 — Vulnérabilité &amp; IA</a:t>
            </a:r>
          </a:p>
          <a:p>
            <a:pPr algn="l">
              <a:spcAft>
                <a:spcPts val="800"/>
              </a:spcAft>
            </a:pPr>
            <a:r>
              <a:rPr sz="1500">
                <a:solidFill>
                  <a:srgbClr val="1C1C1C"/>
                </a:solidFill>
                <a:latin typeface="Liberation Sans"/>
              </a:rPr>
              <a:t>•  Accessibilité &amp; design universel (WCAG), conçus AVEC les concernés</a:t>
            </a:r>
          </a:p>
          <a:p>
            <a:pPr algn="l">
              <a:spcAft>
                <a:spcPts val="800"/>
              </a:spcAft>
            </a:pPr>
            <a:r>
              <a:rPr sz="1500">
                <a:solidFill>
                  <a:srgbClr val="1C1C1C"/>
                </a:solidFill>
                <a:latin typeface="Liberation Sans"/>
              </a:rPr>
              <a:t>•  Aucune stigmatisation de qui n'utilise pas le numérique</a:t>
            </a:r>
          </a:p>
          <a:p>
            <a:pPr algn="l">
              <a:spcAft>
                <a:spcPts val="800"/>
              </a:spcAft>
            </a:pPr>
            <a:r>
              <a:rPr sz="1500">
                <a:solidFill>
                  <a:srgbClr val="1C1C1C"/>
                </a:solidFill>
                <a:latin typeface="Liberation Sans"/>
              </a:rPr>
              <a:t>•  IA : transparence, « human in the loop », contre les biais</a:t>
            </a:r>
          </a:p>
          <a:p>
            <a:pPr algn="l">
              <a:spcAft>
                <a:spcPts val="800"/>
              </a:spcAft>
            </a:pPr>
            <a:r>
              <a:rPr sz="1500">
                <a:solidFill>
                  <a:srgbClr val="1C1C1C"/>
                </a:solidFill>
                <a:latin typeface="Liberation Sans"/>
              </a:rPr>
              <a:t>•  L'IA assiste le jugement humain, ne le remplace pas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064240" cy="731520"/>
          </a:xfrm>
          <a:prstGeom prst="rect">
            <a:avLst/>
          </a:prstGeom>
          <a:noFill/>
        </p:spPr>
        <p:txBody>
          <a:bodyPr wrap="square" anchor="ctr">
            <a:spAutoFit/>
          </a:bodyPr>
          <a:lstStyle/>
          <a:p>
            <a:pPr algn="l">
              <a:spcAft>
                <a:spcPts val="600"/>
              </a:spcAft>
            </a:pPr>
            <a:r>
              <a:rPr sz="2600" b="1" i="0">
                <a:solidFill>
                  <a:srgbClr val="FFFFFF"/>
                </a:solidFill>
                <a:latin typeface="Liberation Sans"/>
              </a:rPr>
              <a:t>Notre charte (2/3) — Hybridation &amp; valeurs</a:t>
            </a:r>
          </a:p>
        </p:txBody>
      </p:sp>
      <p:sp>
        <p:nvSpPr>
          <p:cNvPr id="4" name="TextBox 3"/>
          <p:cNvSpPr txBox="1"/>
          <p:nvPr/>
        </p:nvSpPr>
        <p:spPr>
          <a:xfrm>
            <a:off x="548640" y="1325880"/>
            <a:ext cx="5486400" cy="5212080"/>
          </a:xfrm>
          <a:prstGeom prst="rect">
            <a:avLst/>
          </a:prstGeom>
          <a:noFill/>
        </p:spPr>
        <p:txBody>
          <a:bodyPr wrap="square" anchor="t">
            <a:spAutoFit/>
          </a:bodyPr>
          <a:lstStyle/>
          <a:p>
            <a:pPr algn="l">
              <a:spcAft>
                <a:spcPts val="800"/>
              </a:spcAft>
            </a:pPr>
            <a:r>
              <a:rPr sz="1800" b="1" i="0">
                <a:solidFill>
                  <a:srgbClr val="EB0000"/>
                </a:solidFill>
                <a:latin typeface="Liberation Sans"/>
              </a:rPr>
              <a:t>Axe 3 — Hybridation au service de l'humain</a:t>
            </a:r>
          </a:p>
          <a:p>
            <a:pPr algn="l">
              <a:spcAft>
                <a:spcPts val="800"/>
              </a:spcAft>
            </a:pPr>
            <a:r>
              <a:rPr sz="1500">
                <a:solidFill>
                  <a:srgbClr val="1C1C1C"/>
                </a:solidFill>
                <a:latin typeface="Liberation Sans"/>
              </a:rPr>
              <a:t>•  La technologie augmente l'usager et libère le personnel</a:t>
            </a:r>
          </a:p>
          <a:p>
            <a:pPr algn="l">
              <a:spcAft>
                <a:spcPts val="800"/>
              </a:spcAft>
            </a:pPr>
            <a:r>
              <a:rPr sz="1500">
                <a:solidFill>
                  <a:srgbClr val="1C1C1C"/>
                </a:solidFill>
                <a:latin typeface="Liberation Sans"/>
              </a:rPr>
              <a:t>•  La présence humaine en gare est un choix assumé</a:t>
            </a:r>
          </a:p>
          <a:p>
            <a:pPr algn="l">
              <a:spcAft>
                <a:spcPts val="800"/>
              </a:spcAft>
            </a:pPr>
            <a:r>
              <a:rPr sz="1500">
                <a:solidFill>
                  <a:srgbClr val="1C1C1C"/>
                </a:solidFill>
                <a:latin typeface="Liberation Sans"/>
              </a:rPr>
              <a:t>•  Limite : pas de biométrie imposée, voyager anonyme reste possible</a:t>
            </a:r>
          </a:p>
        </p:txBody>
      </p:sp>
      <p:sp>
        <p:nvSpPr>
          <p:cNvPr id="5" name="TextBox 4"/>
          <p:cNvSpPr txBox="1"/>
          <p:nvPr/>
        </p:nvSpPr>
        <p:spPr>
          <a:xfrm>
            <a:off x="6309360" y="1325880"/>
            <a:ext cx="5303520" cy="5212080"/>
          </a:xfrm>
          <a:prstGeom prst="rect">
            <a:avLst/>
          </a:prstGeom>
          <a:noFill/>
        </p:spPr>
        <p:txBody>
          <a:bodyPr wrap="square" anchor="t">
            <a:spAutoFit/>
          </a:bodyPr>
          <a:lstStyle/>
          <a:p>
            <a:pPr algn="l">
              <a:spcAft>
                <a:spcPts val="800"/>
              </a:spcAft>
            </a:pPr>
            <a:r>
              <a:rPr sz="1800" b="1" i="0">
                <a:solidFill>
                  <a:srgbClr val="EB0000"/>
                </a:solidFill>
                <a:latin typeface="Liberation Sans"/>
              </a:rPr>
              <a:t>Axe 4 — Valeurs &amp; préjudices</a:t>
            </a:r>
          </a:p>
          <a:p>
            <a:pPr algn="l">
              <a:spcAft>
                <a:spcPts val="800"/>
              </a:spcAft>
            </a:pPr>
            <a:r>
              <a:rPr sz="1500">
                <a:solidFill>
                  <a:srgbClr val="1C1C1C"/>
                </a:solidFill>
                <a:latin typeface="Liberation Sans"/>
              </a:rPr>
              <a:t>•  Solidarité, égalité d'accès, confiance, vie privée</a:t>
            </a:r>
          </a:p>
          <a:p>
            <a:pPr algn="l">
              <a:spcAft>
                <a:spcPts val="800"/>
              </a:spcAft>
            </a:pPr>
            <a:r>
              <a:rPr sz="1500">
                <a:solidFill>
                  <a:srgbClr val="1C1C1C"/>
                </a:solidFill>
                <a:latin typeface="Liberation Sans"/>
              </a:rPr>
              <a:t>•  Données minimisées, hébergées en Suisse, jamais revendues</a:t>
            </a:r>
          </a:p>
          <a:p>
            <a:pPr algn="l">
              <a:spcAft>
                <a:spcPts val="800"/>
              </a:spcAft>
            </a:pPr>
            <a:r>
              <a:rPr sz="1500">
                <a:solidFill>
                  <a:srgbClr val="1C1C1C"/>
                </a:solidFill>
                <a:latin typeface="Liberation Sans"/>
              </a:rPr>
              <a:t>•  Refus d'un historique permanent des déplacements</a:t>
            </a:r>
          </a:p>
          <a:p>
            <a:pPr algn="l">
              <a:spcAft>
                <a:spcPts val="800"/>
              </a:spcAft>
            </a:pPr>
            <a:r>
              <a:rPr sz="1500">
                <a:solidFill>
                  <a:srgbClr val="1C1C1C"/>
                </a:solidFill>
                <a:latin typeface="Liberation Sans"/>
              </a:rPr>
              <a:t>•  Suivi de l'inclusion : ne laisser personne de côté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064240" cy="731520"/>
          </a:xfrm>
          <a:prstGeom prst="rect">
            <a:avLst/>
          </a:prstGeom>
          <a:noFill/>
        </p:spPr>
        <p:txBody>
          <a:bodyPr wrap="square" anchor="ctr">
            <a:spAutoFit/>
          </a:bodyPr>
          <a:lstStyle/>
          <a:p>
            <a:pPr algn="l">
              <a:spcAft>
                <a:spcPts val="600"/>
              </a:spcAft>
            </a:pPr>
            <a:r>
              <a:rPr sz="2600" b="1" i="0">
                <a:solidFill>
                  <a:srgbClr val="FFFFFF"/>
                </a:solidFill>
                <a:latin typeface="Liberation Sans"/>
              </a:rPr>
              <a:t>Notre charte (3/3) — Durabilité &amp; sobriété</a:t>
            </a:r>
          </a:p>
        </p:txBody>
      </p:sp>
      <p:sp>
        <p:nvSpPr>
          <p:cNvPr id="4" name="TextBox 3"/>
          <p:cNvSpPr txBox="1"/>
          <p:nvPr/>
        </p:nvSpPr>
        <p:spPr>
          <a:xfrm>
            <a:off x="548640" y="1325880"/>
            <a:ext cx="5486400" cy="5212080"/>
          </a:xfrm>
          <a:prstGeom prst="rect">
            <a:avLst/>
          </a:prstGeom>
          <a:noFill/>
        </p:spPr>
        <p:txBody>
          <a:bodyPr wrap="square" anchor="t">
            <a:spAutoFit/>
          </a:bodyPr>
          <a:lstStyle/>
          <a:p>
            <a:pPr algn="l">
              <a:spcAft>
                <a:spcPts val="800"/>
              </a:spcAft>
            </a:pPr>
            <a:r>
              <a:rPr sz="1800" b="1" i="0">
                <a:solidFill>
                  <a:srgbClr val="EB0000"/>
                </a:solidFill>
                <a:latin typeface="Liberation Sans"/>
              </a:rPr>
              <a:t>Axe 5 — Sobriété numérique</a:t>
            </a:r>
          </a:p>
          <a:p>
            <a:pPr algn="l">
              <a:spcAft>
                <a:spcPts val="800"/>
              </a:spcAft>
            </a:pPr>
            <a:r>
              <a:rPr sz="1500">
                <a:solidFill>
                  <a:srgbClr val="1C1C1C"/>
                </a:solidFill>
                <a:latin typeface="Liberation Sans"/>
              </a:rPr>
              <a:t>•  Numériser ce qui a une valeur réelle, pas multiplier les usages</a:t>
            </a:r>
          </a:p>
          <a:p>
            <a:pPr algn="l">
              <a:spcAft>
                <a:spcPts val="800"/>
              </a:spcAft>
            </a:pPr>
            <a:r>
              <a:rPr sz="1500">
                <a:solidFill>
                  <a:srgbClr val="1C1C1C"/>
                </a:solidFill>
                <a:latin typeface="Liberation Sans"/>
              </a:rPr>
              <a:t>•  Apps légères pour smartphones anciens — anti-obsolescence</a:t>
            </a:r>
          </a:p>
          <a:p>
            <a:pPr algn="l">
              <a:spcAft>
                <a:spcPts val="800"/>
              </a:spcAft>
            </a:pPr>
            <a:r>
              <a:rPr sz="1500">
                <a:solidFill>
                  <a:srgbClr val="1C1C1C"/>
                </a:solidFill>
                <a:latin typeface="Liberation Sans"/>
              </a:rPr>
              <a:t>•  Supports durables (SwissPass), data centers renouvelables</a:t>
            </a:r>
          </a:p>
        </p:txBody>
      </p:sp>
      <p:sp>
        <p:nvSpPr>
          <p:cNvPr id="5" name="TextBox 4"/>
          <p:cNvSpPr txBox="1"/>
          <p:nvPr/>
        </p:nvSpPr>
        <p:spPr>
          <a:xfrm>
            <a:off x="6309360" y="1325880"/>
            <a:ext cx="5303520" cy="5212080"/>
          </a:xfrm>
          <a:prstGeom prst="rect">
            <a:avLst/>
          </a:prstGeom>
          <a:noFill/>
        </p:spPr>
        <p:txBody>
          <a:bodyPr wrap="square" anchor="t">
            <a:spAutoFit/>
          </a:bodyPr>
          <a:lstStyle/>
          <a:p>
            <a:pPr algn="l">
              <a:spcAft>
                <a:spcPts val="800"/>
              </a:spcAft>
            </a:pPr>
            <a:r>
              <a:rPr sz="1800" b="1" i="0">
                <a:solidFill>
                  <a:srgbClr val="EB0000"/>
                </a:solidFill>
                <a:latin typeface="Liberation Sans"/>
              </a:rPr>
              <a:t>Bénéfice net, pas seulement « moins de papier »</a:t>
            </a:r>
          </a:p>
          <a:p>
            <a:pPr algn="l">
              <a:spcAft>
                <a:spcPts val="800"/>
              </a:spcAft>
            </a:pPr>
            <a:r>
              <a:rPr sz="1500">
                <a:solidFill>
                  <a:srgbClr val="1C1C1C"/>
                </a:solidFill>
                <a:latin typeface="Liberation Sans"/>
              </a:rPr>
              <a:t>•  Lecture critique : le numérique n'est pas immatériel</a:t>
            </a:r>
          </a:p>
          <a:p>
            <a:pPr algn="l">
              <a:spcAft>
                <a:spcPts val="800"/>
              </a:spcAft>
            </a:pPr>
            <a:r>
              <a:rPr sz="1500">
                <a:solidFill>
                  <a:srgbClr val="1C1C1C"/>
                </a:solidFill>
                <a:latin typeface="Liberation Sans"/>
              </a:rPr>
              <a:t>•  Risque d'effet rebond (fabrication des smartphones)</a:t>
            </a:r>
          </a:p>
          <a:p>
            <a:pPr algn="l">
              <a:spcAft>
                <a:spcPts val="800"/>
              </a:spcAft>
            </a:pPr>
            <a:r>
              <a:rPr sz="1500">
                <a:solidFill>
                  <a:srgbClr val="1C1C1C"/>
                </a:solidFill>
                <a:latin typeface="Liberation Sans"/>
              </a:rPr>
              <a:t>•  Mesurer et publier l'empreinte réelle</a:t>
            </a:r>
          </a:p>
          <a:p>
            <a:pPr algn="l">
              <a:spcAft>
                <a:spcPts val="800"/>
              </a:spcAft>
            </a:pPr>
            <a:r>
              <a:rPr sz="1500">
                <a:solidFill>
                  <a:srgbClr val="1C1C1C"/>
                </a:solidFill>
                <a:latin typeface="Liberation Sans"/>
              </a:rPr>
              <a:t>•  Évaluer la charte chaque année avec les associations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463040"/>
            <a:ext cx="10332720" cy="4114800"/>
          </a:xfrm>
          <a:prstGeom prst="rect">
            <a:avLst/>
          </a:prstGeom>
          <a:noFill/>
        </p:spPr>
        <p:txBody>
          <a:bodyPr wrap="square" anchor="t">
            <a:spAutoFit/>
          </a:bodyPr>
          <a:lstStyle/>
          <a:p>
            <a:pPr algn="l">
              <a:spcAft>
                <a:spcPts val="1800"/>
              </a:spcAft>
            </a:pPr>
            <a:r>
              <a:rPr sz="1800" b="1" i="0">
                <a:solidFill>
                  <a:srgbClr val="FFFFFF"/>
                </a:solidFill>
                <a:latin typeface="Liberation Sans"/>
              </a:rPr>
              <a:t>Notre conviction</a:t>
            </a:r>
          </a:p>
          <a:p>
            <a:pPr algn="l">
              <a:spcAft>
                <a:spcPts val="1200"/>
              </a:spcAft>
            </a:pPr>
            <a:r>
              <a:rPr sz="2600" b="1" i="0">
                <a:solidFill>
                  <a:srgbClr val="FFFFFF"/>
                </a:solidFill>
                <a:latin typeface="Liberation Sans"/>
              </a:rPr>
              <a:t>Nos choix de conception ne sont jamais neutres :</a:t>
            </a:r>
          </a:p>
          <a:p>
            <a:pPr algn="l">
              <a:spcAft>
                <a:spcPts val="2400"/>
              </a:spcAft>
            </a:pPr>
            <a:r>
              <a:rPr sz="2600" b="1" i="0">
                <a:solidFill>
                  <a:srgbClr val="FFFFFF"/>
                </a:solidFill>
                <a:latin typeface="Liberation Sans"/>
              </a:rPr>
              <a:t>une décision technique est souvent une décision éthique déguisée.</a:t>
            </a:r>
          </a:p>
          <a:p>
            <a:pPr algn="l">
              <a:spcAft>
                <a:spcPts val="400"/>
              </a:spcAft>
            </a:pPr>
            <a:r>
              <a:rPr sz="2000" b="0" i="1">
                <a:solidFill>
                  <a:srgbClr val="FFFFFF"/>
                </a:solidFill>
                <a:latin typeface="Liberation Sans"/>
              </a:rPr>
              <a:t>Concevoir une mobilité numérique qui n'oublie personne —</a:t>
            </a:r>
          </a:p>
          <a:p>
            <a:pPr algn="l">
              <a:spcAft>
                <a:spcPts val="0"/>
              </a:spcAft>
            </a:pPr>
            <a:r>
              <a:rPr sz="2000" b="0" i="1">
                <a:solidFill>
                  <a:srgbClr val="FFFFFF"/>
                </a:solidFill>
                <a:latin typeface="Liberation Sans"/>
              </a:rPr>
              <a:t>sobre, accessible et respectueuse de la vie privée.</a:t>
            </a:r>
          </a:p>
        </p:txBody>
      </p:sp>
      <p:sp>
        <p:nvSpPr>
          <p:cNvPr id="4" name="TextBox 3"/>
          <p:cNvSpPr txBox="1"/>
          <p:nvPr/>
        </p:nvSpPr>
        <p:spPr>
          <a:xfrm>
            <a:off x="914400" y="5852160"/>
            <a:ext cx="10332720" cy="731520"/>
          </a:xfrm>
          <a:prstGeom prst="rect">
            <a:avLst/>
          </a:prstGeom>
          <a:noFill/>
        </p:spPr>
        <p:txBody>
          <a:bodyPr wrap="square" anchor="t">
            <a:spAutoFit/>
          </a:bodyPr>
          <a:lstStyle/>
          <a:p>
            <a:pPr algn="l">
              <a:spcAft>
                <a:spcPts val="600"/>
              </a:spcAft>
            </a:pPr>
            <a:r>
              <a:rPr sz="1800" b="1" i="0">
                <a:solidFill>
                  <a:srgbClr val="FFFFFF"/>
                </a:solidFill>
                <a:latin typeface="Liberation Sans"/>
              </a:rPr>
              <a:t>Merci de votre attention.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Charte éthique et durabilité numérique — Numérisation des titres de transport aux CFF</dc:title>
  <dc:subject>Éthique et durabilité — HEIG-VD</dc:subject>
  <dc:creator>Groupe Éthique et durabilité</dc:creator>
  <cp:keywords/>
  <dc:description/>
  <cp:lastModifiedBy/>
  <cp:revision>1</cp:revision>
  <dcterms:created xsi:type="dcterms:W3CDTF">2013-01-27T09:14:16Z</dcterms:created>
  <dcterms:modified xsi:type="dcterms:W3CDTF">2013-01-27T09:15:58Z</dcterms:modified>
  <cp:category/>
</cp:coreProperties>
</file>